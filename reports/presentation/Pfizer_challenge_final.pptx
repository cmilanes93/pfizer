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71675bb86554f0c" /><Relationship Type="http://schemas.openxmlformats.org/officeDocument/2006/relationships/extended-properties" Target="/docProps/app.xml" Id="Re4691ce762a04458" /><Relationship Type="http://schemas.openxmlformats.org/officeDocument/2006/relationships/officeDocument" Target="/ppt/presentation.xml" Id="Rfb0e55e69ddb46d8" /></Relationships>
</file>

<file path=ppt/presentation.xml><?xml version="1.0" encoding="utf-8"?>
<p:presentation xmlns:p="http://schemas.openxmlformats.org/presentationml/2006/main">
  <p:sldMasterIdLst>
    <p:sldMasterId xmlns:r="http://schemas.openxmlformats.org/officeDocument/2006/relationships" id="2147483648" r:id="Rc29d8072cc584dfa"/>
  </p:sldMasterIdLst>
  <p:notesMasterIdLst>
    <p:notesMasterId xmlns:r="http://schemas.openxmlformats.org/officeDocument/2006/relationships" r:id="R412a908505c54320"/>
  </p:notesMasterIdLst>
  <p:sldIdLst>
    <p:sldId xmlns:r="http://schemas.openxmlformats.org/officeDocument/2006/relationships" id="256" r:id="R1de7bffb193149ff"/>
    <p:sldId xmlns:r="http://schemas.openxmlformats.org/officeDocument/2006/relationships" id="257" r:id="Raa9bfc8d714c4706"/>
    <p:sldId xmlns:r="http://schemas.openxmlformats.org/officeDocument/2006/relationships" id="258" r:id="R7984c04c141c49c1"/>
    <p:sldId xmlns:r="http://schemas.openxmlformats.org/officeDocument/2006/relationships" id="259" r:id="R883c888eddfd4da1"/>
    <p:sldId xmlns:r="http://schemas.openxmlformats.org/officeDocument/2006/relationships" id="260" r:id="Ra42c7e67ee4f4241"/>
    <p:sldId xmlns:r="http://schemas.openxmlformats.org/officeDocument/2006/relationships" id="261" r:id="R0978b76348874f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9ee9b9d6544c6e" /><Relationship Type="http://schemas.openxmlformats.org/officeDocument/2006/relationships/slideMaster" Target="/ppt/slideMasters/slideMaster1.xml" Id="Rc29d8072cc584dfa" /><Relationship Type="http://schemas.openxmlformats.org/officeDocument/2006/relationships/notesMaster" Target="/ppt/notesMasters/notesMaster1.xml" Id="R412a908505c54320" /><Relationship Type="http://schemas.openxmlformats.org/officeDocument/2006/relationships/presProps" Target="/ppt/presProps.xml" Id="Rcfa432706fe64c38" /><Relationship Type="http://schemas.openxmlformats.org/officeDocument/2006/relationships/tableStyles" Target="/ppt/tableStyles.xml" Id="Rf22d3378de2341af" /><Relationship Type="http://schemas.openxmlformats.org/officeDocument/2006/relationships/slide" Target="/ppt/slides/slide1.xml" Id="R1de7bffb193149ff" /><Relationship Type="http://schemas.openxmlformats.org/officeDocument/2006/relationships/slide" Target="/ppt/slides/slide2.xml" Id="Raa9bfc8d714c4706" /><Relationship Type="http://schemas.openxmlformats.org/officeDocument/2006/relationships/slide" Target="/ppt/slides/slide3.xml" Id="R7984c04c141c49c1" /><Relationship Type="http://schemas.openxmlformats.org/officeDocument/2006/relationships/slide" Target="/ppt/slides/slide4.xml" Id="R883c888eddfd4da1" /><Relationship Type="http://schemas.openxmlformats.org/officeDocument/2006/relationships/slide" Target="/ppt/slides/slide5.xml" Id="Ra42c7e67ee4f4241" /><Relationship Type="http://schemas.openxmlformats.org/officeDocument/2006/relationships/slide" Target="/ppt/slides/slide6.xml" Id="R0978b76348874f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c9f002178d4b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HCP Prioritisation">
  <a:themeElements>
    <a:clrScheme name="HCP Prioritisation">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HCP Prioritisatio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fbfbdb49bc4c2a" /><Relationship Type="http://schemas.openxmlformats.org/officeDocument/2006/relationships/notesMaster" Target="/ppt/notesMasters/notesMaster1.xml" Id="Rc488279addda41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66828daf474067" /><Relationship Type="http://schemas.openxmlformats.org/officeDocument/2006/relationships/notesMaster" Target="/ppt/notesMasters/notesMaster1.xml" Id="Rd8269f128bcc4b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2b393543d44966" /><Relationship Type="http://schemas.openxmlformats.org/officeDocument/2006/relationships/notesMaster" Target="/ppt/notesMasters/notesMaster1.xml" Id="Rfdede92b59f049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0846aded4542bb" /><Relationship Type="http://schemas.openxmlformats.org/officeDocument/2006/relationships/notesMaster" Target="/ppt/notesMasters/notesMaster1.xml" Id="R319ff580466d4f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0083282af54618" /><Relationship Type="http://schemas.openxmlformats.org/officeDocument/2006/relationships/notesMaster" Target="/ppt/notesMasters/notesMaster1.xml" Id="Rcbe6e298f86848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2b3cbefc084025" /><Relationship Type="http://schemas.openxmlformats.org/officeDocument/2006/relationships/notesMaster" Target="/ppt/notesMasters/notesMaster1.xml" Id="Rb825a4e390944ac4"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commercial question is which HCPs deserve priority next cycle, and whether the evidence justifies investing further in that decision. My answer is to iterate: fund a bounded validation of a simple prioritisation policy. The extract contains useful ranking signal, but it does not yet support operational scale or a more complicated model.</a:t>
            </a:r>
          </a:p>
          <a:p>
            <a:r>
              <a:t>The chart shows the central finding. At an illustrative ten-percent monthly capacity, prioritising by decile reaches 17.9 percent precision. A learned table using decile, formulary status and specialty reaches 26.5 percent. Those are supplied strict-positive labels among selected positions. They are not additional prescriptions caused by contacting those physicians. These historical comparisons are exploratory.</a:t>
            </a:r>
          </a:p>
          <a:p>
            <a:r>
              <a:t>That finding gives the proof of concept value. Much of the historical signal is accessible with few input dependencies. The next investment should establish whether that signal survives validated outcome definitions and information available at decision time, then whether acting on it creates sufficient incremental value. The data do not measure the acquisition cost of those fields, so I am not claiming a specific saving.</a:t>
            </a:r>
          </a:p>
          <a:p>
            <a:r>
              <a:t>I chose strict response as a provisional target because the dictionary describes a substantial subsequent increase in new prescriptions. It is closer to the commercial question than any increase, although its threshold and reference still need confirmation. A model of this label estimates association, not the effect caused by engagement. Strict positives comprise 7.05 percent of all training rows.</a:t>
            </a:r>
          </a:p>
          <a:p>
            <a:r>
              <a:t>The training panel contains 48,585 HCP-months across 2,100 physicians. The delivery scores all 12,723 required rows with an eleven-field logistic model. I will explain the data constraints, why that recipe remains the submitted model, and what evidence would change the investment recommendation.</a:t>
            </a:r>
          </a:p>
          <a:p>
            <a:r>
              <a:t>Sources: README.md; reports/comparison/findings.md; reports/comparison/summary.csv.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My initial review focused on the process that created the extract. The brief explains that representatives can enter activity late and that records can change after their first entry. A field in the final extract can therefore differ from the information available when a ranking would have been used.</a:t>
            </a:r>
          </a:p>
          <a:p>
            <a:r>
              <a:t>The chart shows why the operational flags deserved attention. Strict response ranges from about 0.8 percent when neither flag is present to about 61 percent when both are present. That is a very strong association, but the magnitude alone does not prove leakage. The more relevant evidence is their downstream update mechanism and the fact that the follow-up flag is missing for about 88 percent of scoring rows. I excluded those fields from the ranking.</a:t>
            </a:r>
          </a:p>
          <a:p>
            <a:r>
              <a:t>I also found a change in prescription scales and exact mappings between some volume variables and decile. Mean reported three-month NBRx is 9.03 in July to December 2025 and 3.75 in scoring. Carrying those numerical fields across the boundary could make an apparent relationship depend on inconsistent measurement. Visit count and recency also contain contradictions. In a later audit, 4,598 consecutive zero-one-zero attendance histories conflicted with the stated trailing-twelve-month definition, so attendance was excluded as well.</a:t>
            </a:r>
          </a:p>
          <a:p>
            <a:r>
              <a:t>The response definition itself remains the largest uncertainty. Under one explicit immediate-month comparison, 1,504 of 2,887 checked strict positives, or 52.1 percent, show prescription growth. This is a compatibility check under a stated interpretation. The official label may use another reference, lag or source measure, so I cannot conclude that it is erroneous. I can conclude that the extract does not establish its construction.</a:t>
            </a:r>
          </a:p>
          <a:p>
            <a:r>
              <a:t>These observations determine what the model can responsibly claim. I retained strict response as the supplied proxy, excluded fields with specific evidence against their use, and documented availability assumptions for every retained input. The panel history then provides an additional source of information, which I examine separately.</a:t>
            </a:r>
          </a:p>
          <a:p>
            <a:r>
              <a:t>The four flag groups contain 31,149, 9,983, 4,680 and 2,773 HCP-months, with 235, 318, 1,183 and 1,688 strict positives, respectively. The exact scoring follow-up missingness is 87.77 percent.</a:t>
            </a:r>
          </a:p>
          <a:p>
            <a:r>
              <a:t>Sources: docs/analysis_guide.md; docs/methodology/feature_decisions.md; reports/data_checks/operational_flag_joint_associations.csv; reports/data_checks/feature_audit.json; reports/decision_audit/target_summary.json.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I used temporal cuts because the intended task is to rank a future engagement cycle using information available beforehand. Development fits through May 2025 and evaluates July to September. The later comparison fits through August and evaluates October to December. For final scoring, the model fits through November and stays fixed across January to June 2026.</a:t>
            </a:r>
          </a:p>
          <a:p>
            <a:r>
              <a:t>The skipped row month reflects an assumption: a label attached to month t refers to the following calendar month and becomes available at that month's end. That implies using labels through t minus two at a monthly decision. The source files do not verify the actual warehouse delay, so the timing rule is explicit and provisional.</a:t>
            </a:r>
          </a:p>
          <a:p>
            <a:r>
              <a:t>The delivered model is logistic regression with C equal to 0.1. The core inputs are decile, specialty, formulary status and competitor share. The broader model adds region, institution type, years in practice, emails sent, emails opened, digital engagement score and commercial payer mix. Numeric standardisation and categorical encoding use fitting data only. I excluded raw identifiers as predictors, while retaining the HCP identifier for grouping, uncertainty estimation and the separate history comparison.</a:t>
            </a:r>
          </a:p>
          <a:p>
            <a:r>
              <a:t>The original model selection considered average precision and precision at five, ten and twenty percent together. It removed dominated eligible alternatives, then preferred fewer inputs and logistic regression. Four inputs were dominated in development. The two eleven-input models traded off the metrics, so the rule selected logistic. I evaluated one fixed boosting configuration, with no broad parameter search. Automated deployment was outside the proof-of-concept scope.</a:t>
            </a:r>
          </a:p>
          <a:p>
            <a:r>
              <a:t>The complete assessment also includes a three-field empirical response table and historical HCP response rates. Those comparisons help assess whether the submitted model earns its dependencies. They do not reselect the submitted model based on a favourable later number.</a:t>
            </a:r>
          </a:p>
          <a:p>
            <a:r>
              <a:t>All of these historical periods have been examined during development or review, so I describe the evidence as exploratory. The same physician can appear in fitting and later months because returning HCPs are part of the intended use. A separate unfamiliar-HCP check examines another use case. In every horizon, the model stays fixed while monthly inputs may change. Their availability at the decision date remains an assumption. A six-month sensitivity fits through May and evaluates July to December 2025; it overlaps development and is not independent validation.</a:t>
            </a:r>
          </a:p>
          <a:p>
            <a:r>
              <a:t>After model selection, adding rep-logged visit counts gave later precision of 28.12 versus 26.98 percent at 10 percent capacity, and 31.79 versus 33.76 percent at 5 percent. The paired HCP 95 percent interval for the 10 percent difference was minus 0.33 to plus 3.62 percentage points. It establishes neither improvement nor equivalence. Late or batch entry can make historical activity unavailable at ranking time, so visit counts remain excluded. This sensitivity leaves the delivered scores unchanged and does not create a new holdout.</a:t>
            </a:r>
          </a:p>
          <a:p>
            <a:r>
              <a:t>Sources: docs/analysis_guide.md; config/challenger.json; src/modeling.py; reports/data_checks/activity_sensitivity.csv; reports/data_checks/activity_sensitivity.json.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curve compares four profile-based policies in October to December on the same monthly populations and fitting cutoff. The horizontal axis is the fraction of eligible monthly positions selected; the vertical axis is the mean monthly fraction with the strict-positive label. The slide focuses on one to thirty percent, with the full one-to-one-hundred-percent grid available in the evidence. The three marked capacities are illustrations, not business commitments.</a:t>
            </a:r>
          </a:p>
          <a:p>
            <a:r>
              <a:t>At ten percent, the empirical table reaches 26.48 percent precision, four-field logistic 27.30 percent, and the submitted eleven-field model 26.98 percent. Decile is 17.92 percent. The table learns the response rate in each decile, formulary-status and specialty group from fitting rows only. It uses fitting prevalence for an unseen group, without smoothing or tuning.</a:t>
            </a:r>
          </a:p>
          <a:p>
            <a:r>
              <a:t>Why submit eleven inputs when the simpler policies are close? The submitted recipe follows the recorded development comparison of average precision and precision at five, ten and twenty percent. Four-field logistic was dominated in development. Logistic and boosting on eleven inputs traded off those metrics, and the rule preferred logistic. The later results do not establish a consistent replacement. Keeping this delivery is different from claiming that eleven fields have proven their commercial value.</a:t>
            </a:r>
          </a:p>
          <a:p>
            <a:r>
              <a:t>Capacity changes the comparison. At five percent, the delivered model reaches 33.76 percent versus 30.16 percent for the table. At twenty percent, the table is slightly ahead. The five-percent result describes the later evidence; it was not the original selection reason. I also checked cutoff ties: even the most favourable possible tie selections reach only 31.47 percent for the table, below the model at five percent in these three months. That does not establish future superiority.</a:t>
            </a:r>
          </a:p>
          <a:p>
            <a:r>
              <a:t>At ten percent, the model finds 164 positives versus 161 for the table across 608 positions. The half-point difference has a conditional 95-percent interval from minus 2.96 to plus 2.30 points. It establishes neither superiority nor equivalence. The useful conclusion is that simple profiles capture much of the signal and the value of extra inputs depends on the operating decision. The interval uses 2,000 paired HCP resamples with fitted scores held fixed. These are monthly selection positions; an HCP can appear again.</a:t>
            </a:r>
          </a:p>
          <a:p>
            <a:r>
              <a:t>At ten percent, the delivered model versus the table reaches 26.43 versus 23.15 percent in development, and 26.45 versus 24.73 percent in the overlapping six-month comparison. These period differences support evaluating policies at the intended capacity before adding complexity.</a:t>
            </a:r>
          </a:p>
          <a:p>
            <a:r>
              <a:t>Sources: reports/comparison/capacity_summary.csv; reports/comparison/summary.csv; reports/comparison/checks.json; reports/comparison/capacity_audit.json.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longitudinal question is whether a physician's own past response adds information beyond the profile. Descriptively, strict response is 13.27 percent after a positive label two calendar months earlier, versus 6.50 percent after a negative. That may reflect persistent propensity, targeting patterns or other factors. It is not an engagement effect.</a:t>
            </a:r>
          </a:p>
          <a:p>
            <a:r>
              <a:t>Historical response alone reaches 21.54 percent precision at ten-percent capacity in the later comparison. It has predictive signal, but does not beat the stronger profile alternatives. I therefore tested one fixed addition to four-field logistic: the physician's prior strict-response rate.</a:t>
            </a:r>
          </a:p>
          <a:p>
            <a:r>
              <a:t>For each fitting row, history uses outcomes only through t minus two. Both models omit January and February 2024 because the extract supplies no preceding history for those rows. Evaluation histories remain frozen at the fitting cutoff. The displayed core is therefore 27.47 percent, compared with 27.30 on the previous slide. The difference is the fitting population; I have labelled it explicitly here.</a:t>
            </a:r>
          </a:p>
          <a:p>
            <a:r>
              <a:t>Adding history raises precision to 28.46 percent: 173 versus 167 positive positions from 608 selections, or 0.99 percentage points. The interval on the chart is for that difference, not for either precision estimate. It crosses zero, from minus 0.82 to plus 2.30 points, and conditions on fitted scores and the observed physicians and months. This is a candidate for fresh evaluation, with insufficient evidence to replace the delivery. Mean average precision is 0.265 with history versus 0.241 for the comparable core.</a:t>
            </a:r>
          </a:p>
          <a:p>
            <a:r>
              <a:t>History also has an operational constraint. The scoring file contains no new 2026 outcomes, so a frozen history could use only labels through the fitting cutoff. Unseen HCPs receive the fitting population response rate. Updating history as new labels mature would need its own evaluation. The submitted eleven-field model does not include this history feature.</a:t>
            </a:r>
          </a:p>
          <a:p>
            <a:r>
              <a:t>Sources: reports/comparison/history_increment_summary.csv; reports/comparison/history_increment.json; src/baselines.py.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I recommend continuing with a bounded investment in validated HCP prioritisation. The evidence supports a simple policy as a serious candidate and does not yet justify scaling engagement decisions or expanding model complexity. That is my answer to the brief's investment question.</a:t>
            </a:r>
          </a:p>
          <a:p>
            <a:r>
              <a:t>For the submitted ranking, my working expectation is 27 percent precision at an illustrative ten-percent capacity on the supplied strict label. I would test that number in the next reserved period and report a miss. The main risk is that reconciling the outcome or reconstructing decision-time inputs changes the measured task and its ranking signal. The score file supplies no 2026 outcomes to test that expectation now.</a:t>
            </a:r>
          </a:p>
          <a:p>
            <a:r>
              <a:t>I would scale a policy only after validating its target and inputs and obtaining prospective evidence of incremental net value at real capacity and cost. I would agree the existing or simplest feasible reference with Commercial and compare policies at equal capacity. The proposed decision criterion is a lower 95-percent bound above zero for incremental net value, with the estimated gain also meeting the minimum agreed before outcomes are opened. A randomised policy test is the preferred design where feasible.</a:t>
            </a:r>
          </a:p>
          <a:p>
            <a:r>
              <a:t>I would simplify if fewer dependencies meet the commercial requirement and the extra inputs do not justify their cost. For a more complex model, I would first require an advantage over a prespecified simple reference in a new matured period: a positive paired lower 95-percent bound and a gain meeting the agreed business minimum. Predictive improvement alone would still not prove profit. I would stop or redefine the task if the target cannot be reconciled, or if the advantage disappears after correcting definitions and timing.</a:t>
            </a:r>
          </a:p>
          <a:p>
            <a:r>
              <a:t>With two more weeks and one engineer, I would reconcile the target and agree capacity, repeat-contact rules and minimum value, while the engineer reconstructs decision-time data. We would then agree the policy comparison before outcomes arrive and prepare the prospective test. Sample size requires the minimum worthwhile effect, variance and randomisation unit, including territory dependence. Those inputs are absent; two weeks can prepare the test, but cannot guarantee mature outcomes.</a:t>
            </a:r>
          </a:p>
          <a:p>
            <a:r>
              <a:t>The investment I recommend is in proving that a simple ranking improves the engagement decision. Additional complexity should earn its place through additional value.</a:t>
            </a:r>
          </a:p>
          <a:p>
            <a:r>
              <a:t>Sources: reports/comparison/findings.md; docs/analysis_guide.md.</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a05b25298b44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8570c133b645c4" /><Relationship Type="http://schemas.openxmlformats.org/officeDocument/2006/relationships/slideLayout" Target="/ppt/slideLayouts/slideLayout1.xml" Id="Rf8b1e59610b246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b1e59610b246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HCP Prioritisation">
  <a:themeElements>
    <a:clrScheme name="HCP Prioritisation">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HCP Prioritisatio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d9c752cab44675" /><Relationship Type="http://schemas.openxmlformats.org/officeDocument/2006/relationships/chart" Target="/ppt/slides/charts/chart1.xml" Id="R3f773dc78d894e2b" /><Relationship Type="http://schemas.openxmlformats.org/officeDocument/2006/relationships/notesSlide" Target="/ppt/notesSlides/notesSlide1.xml" Id="R126004790cd546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7d82522acc43ca" /><Relationship Type="http://schemas.openxmlformats.org/officeDocument/2006/relationships/chart" Target="/ppt/slides/charts/chart2.xml" Id="Rcfba2c170e82499b" /><Relationship Type="http://schemas.openxmlformats.org/officeDocument/2006/relationships/notesSlide" Target="/ppt/notesSlides/notesSlide2.xml" Id="R833cdd158ccd43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c9d3fa4c2b4505" /><Relationship Type="http://schemas.openxmlformats.org/officeDocument/2006/relationships/notesSlide" Target="/ppt/notesSlides/notesSlide3.xml" Id="R9b541e1b6a7f45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c3bc3a3bcd4b5c" /><Relationship Type="http://schemas.openxmlformats.org/officeDocument/2006/relationships/chart" Target="/ppt/slides/charts/chart3.xml" Id="Rdcf5a0ac481244aa" /><Relationship Type="http://schemas.openxmlformats.org/officeDocument/2006/relationships/notesSlide" Target="/ppt/notesSlides/notesSlide4.xml" Id="R07e70472ac5845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970232acbe4150" /><Relationship Type="http://schemas.openxmlformats.org/officeDocument/2006/relationships/chart" Target="/ppt/slides/charts/chart4.xml" Id="R5a4002767aa34bff" /><Relationship Type="http://schemas.openxmlformats.org/officeDocument/2006/relationships/notesSlide" Target="/ppt/notesSlides/notesSlide5.xml" Id="Rdcf4947140714a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802e31098ca4904" /><Relationship Type="http://schemas.openxmlformats.org/officeDocument/2006/relationships/notesSlide" Target="/ppt/notesSlides/notesSlide6.xml" Id="R4d7a1b290a0c4dc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Precision at 10%</c:v>
          </c:tx>
          <c:spPr>
            <a:solidFill xmlns:a="http://schemas.openxmlformats.org/drawingml/2006/main">
              <a:srgbClr val="185F91"/>
            </a:solidFill>
          </c:spPr>
          <c:dPt>
            <c:idx val="0"/>
            <c:invertIfNegative val="0"/>
            <c:spPr>
              <a:solidFill xmlns:a="http://schemas.openxmlformats.org/drawingml/2006/main">
                <a:srgbClr val="81909C"/>
              </a:solidFill>
            </c:spPr>
          </c:dPt>
          <c:dPt>
            <c:idx val="1"/>
            <c:invertIfNegative val="0"/>
            <c:spPr>
              <a:solidFill xmlns:a="http://schemas.openxmlformats.org/drawingml/2006/main">
                <a:srgbClr val="168477"/>
              </a:solidFill>
            </c:spPr>
          </c:dPt>
          <c:cat>
            <c:strRef>
              <c:f>'Chart Data'!$A$2:$A$3</c:f>
              <c:strCache>
                <c:ptCount val="2"/>
                <c:pt idx="0">
                  <c:v>Decile</c:v>
                </c:pt>
                <c:pt idx="1">
                  <c:v>Three-field table</c:v>
                </c:pt>
              </c:strCache>
            </c:strRef>
          </c:cat>
          <c:val>
            <c:numRef>
              <c:f>'Chart Data'!$B$2:$B$3</c:f>
              <c:numCache>
                <c:formatCode>0.0%</c:formatCode>
                <c:ptCount val="2"/>
                <c:pt idx="0">
                  <c:v>0.1792258</c:v>
                </c:pt>
                <c:pt idx="1">
                  <c:v>0.26479052</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7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DejaVu Sans"/>
                <a:ea typeface="DejaVu Sans"/>
                <a:cs typeface="DejaVu Sans"/>
              </a:defRPr>
            </a:pPr>
          </a:p>
        </c:txPr>
        <c:crossAx val="48672768"/>
      </c:catAx>
      <c:valAx>
        <c:axId val="48672768"/>
        <c:scaling>
          <c:orientation val="minMax"/>
          <c:max val="0.35"/>
          <c:min val="0"/>
        </c:scaling>
        <c:delete val="0"/>
        <c:axPos val="l"/>
        <c:majorGridlines>
          <c:spPr>
            <a:ln xmlns:a="http://schemas.openxmlformats.org/drawingml/2006/main" w="6668">
              <a:solidFill>
                <a:srgbClr val="DCE5EB"/>
              </a:solidFill>
              <a:prstDash val="solid"/>
            </a:ln>
          </c:spPr>
        </c:majorGridlines>
        <c:numFmt formatCode="0%"/>
        <c:majorTickMark val="none"/>
        <c:minorTickMark val="none"/>
        <c:spPr>
          <a:ln xmlns:a="http://schemas.openxmlformats.org/drawingml/2006/main" w="9525">
            <a:solidFill>
              <a:srgbClr val="DCE5EB"/>
            </a:solidFill>
            <a:prstDash val="solid"/>
          </a:ln>
        </c:spPr>
        <c:txPr>
          <a:bodyPr xmlns:a="http://schemas.openxmlformats.org/drawingml/2006/main" anchorCtr="1"/>
          <a:lstStyle xmlns:a="http://schemas.openxmlformats.org/drawingml/2006/main"/>
          <a:p xmlns:a="http://schemas.openxmlformats.org/drawingml/2006/main">
            <a:pPr>
              <a:defRPr sz="1275">
                <a:solidFill>
                  <a:srgbClr val="536774"/>
                </a:solidFill>
                <a:latin typeface="DejaVu Sans"/>
                <a:ea typeface="DejaVu Sans"/>
                <a:cs typeface="DejaVu Sans"/>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Strict-positive share</c:v>
          </c:tx>
          <c:spPr>
            <a:solidFill xmlns:a="http://schemas.openxmlformats.org/drawingml/2006/main">
              <a:srgbClr val="185F91"/>
            </a:solidFill>
          </c:spPr>
          <c:cat>
            <c:strRef>
              <c:f>'Chart Data'!$A$2:$A$5</c:f>
              <c:strCache>
                <c:ptCount val="4"/>
                <c:pt idx="0">
                  <c:v>Neither</c:v>
                </c:pt>
                <c:pt idx="1">
                  <c:v>Refresh</c:v>
                </c:pt>
                <c:pt idx="2">
                  <c:v>Follow-up</c:v>
                </c:pt>
                <c:pt idx="3">
                  <c:v>Both</c:v>
                </c:pt>
              </c:strCache>
            </c:strRef>
          </c:cat>
          <c:val>
            <c:numRef>
              <c:f>'Chart Data'!$B$2:$B$5</c:f>
              <c:numCache>
                <c:formatCode>0.0%</c:formatCode>
                <c:ptCount val="4"/>
                <c:pt idx="0">
                  <c:v>0.00754438</c:v>
                </c:pt>
                <c:pt idx="1">
                  <c:v>0.03185415</c:v>
                </c:pt>
                <c:pt idx="2">
                  <c:v>0.25277778</c:v>
                </c:pt>
                <c:pt idx="3">
                  <c:v>0.60872701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7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DejaVu Sans"/>
                <a:ea typeface="DejaVu Sans"/>
                <a:cs typeface="DejaVu Sans"/>
              </a:defRPr>
            </a:pPr>
          </a:p>
        </c:txPr>
        <c:crossAx val="48672768"/>
      </c:catAx>
      <c:valAx>
        <c:axId val="48672768"/>
        <c:scaling>
          <c:orientation val="minMax"/>
          <c:max val="0.7"/>
          <c:min val="0"/>
        </c:scaling>
        <c:delete val="0"/>
        <c:axPos val="l"/>
        <c:majorGridlines>
          <c:spPr>
            <a:ln xmlns:a="http://schemas.openxmlformats.org/drawingml/2006/main" w="6668">
              <a:solidFill>
                <a:srgbClr val="DCE5EB"/>
              </a:solidFill>
              <a:prstDash val="solid"/>
            </a:ln>
          </c:spPr>
        </c:majorGridlines>
        <c:numFmt formatCode="0%"/>
        <c:majorTickMark val="none"/>
        <c:minorTickMark val="none"/>
        <c:spPr>
          <a:ln xmlns:a="http://schemas.openxmlformats.org/drawingml/2006/main" w="9525">
            <a:solidFill>
              <a:srgbClr val="DCE5EB"/>
            </a:solidFill>
            <a:prstDash val="solid"/>
          </a:ln>
        </c:spPr>
        <c:txPr>
          <a:bodyPr xmlns:a="http://schemas.openxmlformats.org/drawingml/2006/main" anchorCtr="1"/>
          <a:lstStyle xmlns:a="http://schemas.openxmlformats.org/drawingml/2006/main"/>
          <a:p xmlns:a="http://schemas.openxmlformats.org/drawingml/2006/main">
            <a:pPr>
              <a:defRPr sz="1275">
                <a:solidFill>
                  <a:srgbClr val="536774"/>
                </a:solidFill>
                <a:latin typeface="DejaVu Sans"/>
                <a:ea typeface="DejaVu Sans"/>
                <a:cs typeface="DejaVu Sans"/>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Decile</c:v>
          </c:tx>
          <c:spPr>
            <a:ln xmlns:a="http://schemas.openxmlformats.org/drawingml/2006/main" w="21908">
              <a:solidFill>
                <a:srgbClr val="81909C"/>
              </a:solidFill>
              <a:prstDash val="solid"/>
            </a:ln>
          </c:spPr>
          <c:marker>
            <c:symbol val="none"/>
          </c:marker>
          <c:xVal>
            <c:numRef>
              <c:f>'Chart Data'!$A$2:$A$31</c:f>
              <c:numCache>
                <c:formatCode>0%</c:formatCode>
                <c:ptCount val="3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numCache>
            </c:numRef>
          </c:xVal>
          <c:yVal>
            <c:numRef>
              <c:f>'Chart Data'!$B$2:$B$31</c:f>
              <c:numCache>
                <c:formatCode>0.0%</c:formatCode>
                <c:ptCount val="30"/>
                <c:pt idx="0">
                  <c:v>0.19047619</c:v>
                </c:pt>
                <c:pt idx="1">
                  <c:v>0.18699187</c:v>
                </c:pt>
                <c:pt idx="2">
                  <c:v>0.16939891</c:v>
                </c:pt>
                <c:pt idx="3">
                  <c:v>0.17283951</c:v>
                </c:pt>
                <c:pt idx="4">
                  <c:v>0.18006212</c:v>
                </c:pt>
                <c:pt idx="5">
                  <c:v>0.16939891</c:v>
                </c:pt>
                <c:pt idx="6">
                  <c:v>0.16431925</c:v>
                </c:pt>
                <c:pt idx="7">
                  <c:v>0.16872428</c:v>
                </c:pt>
                <c:pt idx="8">
                  <c:v>0.17948718</c:v>
                </c:pt>
                <c:pt idx="9">
                  <c:v>0.1792258</c:v>
                </c:pt>
                <c:pt idx="10">
                  <c:v>0.18110263</c:v>
                </c:pt>
                <c:pt idx="11">
                  <c:v>0.17969822</c:v>
                </c:pt>
                <c:pt idx="12">
                  <c:v>0.17617237</c:v>
                </c:pt>
                <c:pt idx="13">
                  <c:v>0.17060253</c:v>
                </c:pt>
                <c:pt idx="14">
                  <c:v>0.17232644</c:v>
                </c:pt>
                <c:pt idx="15">
                  <c:v>0.16477468</c:v>
                </c:pt>
                <c:pt idx="16">
                  <c:v>0.16391224</c:v>
                </c:pt>
                <c:pt idx="17">
                  <c:v>0.15842491</c:v>
                </c:pt>
                <c:pt idx="18">
                  <c:v>0.15698052</c:v>
                </c:pt>
                <c:pt idx="19">
                  <c:v>0.15485271</c:v>
                </c:pt>
                <c:pt idx="20">
                  <c:v>0.15776545</c:v>
                </c:pt>
                <c:pt idx="21">
                  <c:v>0.15592165</c:v>
                </c:pt>
                <c:pt idx="22">
                  <c:v>0.15340241</c:v>
                </c:pt>
                <c:pt idx="23">
                  <c:v>0.14962171</c:v>
                </c:pt>
                <c:pt idx="24">
                  <c:v>0.15161168</c:v>
                </c:pt>
                <c:pt idx="25">
                  <c:v>0.15282033</c:v>
                </c:pt>
                <c:pt idx="26">
                  <c:v>0.15149489</c:v>
                </c:pt>
                <c:pt idx="27">
                  <c:v>0.14958806</c:v>
                </c:pt>
                <c:pt idx="28">
                  <c:v>0.1483782</c:v>
                </c:pt>
                <c:pt idx="29">
                  <c:v>0.14560328</c:v>
                </c:pt>
              </c:numCache>
            </c:numRef>
          </c:yVal>
          <c:smooth val="0"/>
        </c:ser>
        <c:ser>
          <c:idx val="1"/>
          <c:order val="1"/>
          <c:tx>
            <c:v>3-field table</c:v>
          </c:tx>
          <c:spPr>
            <a:ln xmlns:a="http://schemas.openxmlformats.org/drawingml/2006/main" w="21908">
              <a:solidFill>
                <a:srgbClr val="168477"/>
              </a:solidFill>
              <a:prstDash val="solid"/>
            </a:ln>
          </c:spPr>
          <c:marker>
            <c:symbol val="none"/>
          </c:marker>
          <c:xVal>
            <c:numRef>
              <c:f>'Chart Data'!$C$2:$C$31</c:f>
              <c:numCache>
                <c:formatCode>0%</c:formatCode>
                <c:ptCount val="3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numCache>
            </c:numRef>
          </c:xVal>
          <c:yVal>
            <c:numRef>
              <c:f>'Chart Data'!$D$2:$D$31</c:f>
              <c:numCache>
                <c:formatCode>0.0%</c:formatCode>
                <c:ptCount val="30"/>
                <c:pt idx="0">
                  <c:v>0.47619048</c:v>
                </c:pt>
                <c:pt idx="1">
                  <c:v>0.41463415</c:v>
                </c:pt>
                <c:pt idx="2">
                  <c:v>0.3715847</c:v>
                </c:pt>
                <c:pt idx="3">
                  <c:v>0.31687243</c:v>
                </c:pt>
                <c:pt idx="4">
                  <c:v>0.30155957</c:v>
                </c:pt>
                <c:pt idx="5">
                  <c:v>0.29234973</c:v>
                </c:pt>
                <c:pt idx="6">
                  <c:v>0.28873239</c:v>
                </c:pt>
                <c:pt idx="7">
                  <c:v>0.281893</c:v>
                </c:pt>
                <c:pt idx="8">
                  <c:v>0.27838828</c:v>
                </c:pt>
                <c:pt idx="9">
                  <c:v>0.26479052</c:v>
                </c:pt>
                <c:pt idx="10">
                  <c:v>0.26046674</c:v>
                </c:pt>
                <c:pt idx="11">
                  <c:v>0.25240055</c:v>
                </c:pt>
                <c:pt idx="12">
                  <c:v>0.24461343</c:v>
                </c:pt>
                <c:pt idx="13">
                  <c:v>0.23764495</c:v>
                </c:pt>
                <c:pt idx="14">
                  <c:v>0.22612327</c:v>
                </c:pt>
                <c:pt idx="15">
                  <c:v>0.21833314</c:v>
                </c:pt>
                <c:pt idx="16">
                  <c:v>0.21629433</c:v>
                </c:pt>
                <c:pt idx="17">
                  <c:v>0.21245421</c:v>
                </c:pt>
                <c:pt idx="18">
                  <c:v>0.20729167</c:v>
                </c:pt>
                <c:pt idx="19">
                  <c:v>0.2026423</c:v>
                </c:pt>
                <c:pt idx="20">
                  <c:v>0.19623751</c:v>
                </c:pt>
                <c:pt idx="21">
                  <c:v>0.19115801</c:v>
                </c:pt>
                <c:pt idx="22">
                  <c:v>0.18710813</c:v>
                </c:pt>
                <c:pt idx="23">
                  <c:v>0.18188169</c:v>
                </c:pt>
                <c:pt idx="24">
                  <c:v>0.17798432</c:v>
                </c:pt>
                <c:pt idx="25">
                  <c:v>0.1750172</c:v>
                </c:pt>
                <c:pt idx="26">
                  <c:v>0.17226647</c:v>
                </c:pt>
                <c:pt idx="27">
                  <c:v>0.16902688</c:v>
                </c:pt>
                <c:pt idx="28">
                  <c:v>0.16884831</c:v>
                </c:pt>
                <c:pt idx="29">
                  <c:v>0.16703458</c:v>
                </c:pt>
              </c:numCache>
            </c:numRef>
          </c:yVal>
          <c:smooth val="0"/>
        </c:ser>
        <c:ser>
          <c:idx val="2"/>
          <c:order val="2"/>
          <c:tx>
            <c:v>4-field logistic</c:v>
          </c:tx>
          <c:spPr>
            <a:ln xmlns:a="http://schemas.openxmlformats.org/drawingml/2006/main" w="21908">
              <a:solidFill>
                <a:srgbClr val="BA782A"/>
              </a:solidFill>
              <a:prstDash val="solid"/>
            </a:ln>
          </c:spPr>
          <c:marker>
            <c:symbol val="none"/>
          </c:marker>
          <c:xVal>
            <c:numRef>
              <c:f>'Chart Data'!$E$2:$E$31</c:f>
              <c:numCache>
                <c:formatCode>0%</c:formatCode>
                <c:ptCount val="3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numCache>
            </c:numRef>
          </c:xVal>
          <c:yVal>
            <c:numRef>
              <c:f>'Chart Data'!$F$2:$F$31</c:f>
              <c:numCache>
                <c:formatCode>0.0%</c:formatCode>
                <c:ptCount val="30"/>
                <c:pt idx="0">
                  <c:v>0.3968254</c:v>
                </c:pt>
                <c:pt idx="1">
                  <c:v>0.36585366</c:v>
                </c:pt>
                <c:pt idx="2">
                  <c:v>0.36065574</c:v>
                </c:pt>
                <c:pt idx="3">
                  <c:v>0.32510288</c:v>
                </c:pt>
                <c:pt idx="4">
                  <c:v>0.31155763</c:v>
                </c:pt>
                <c:pt idx="5">
                  <c:v>0.29781421</c:v>
                </c:pt>
                <c:pt idx="6">
                  <c:v>0.28169014</c:v>
                </c:pt>
                <c:pt idx="7">
                  <c:v>0.281893</c:v>
                </c:pt>
                <c:pt idx="8">
                  <c:v>0.28021978</c:v>
                </c:pt>
                <c:pt idx="9">
                  <c:v>0.27304134</c:v>
                </c:pt>
                <c:pt idx="10">
                  <c:v>0.26498472</c:v>
                </c:pt>
                <c:pt idx="11">
                  <c:v>0.25788752</c:v>
                </c:pt>
                <c:pt idx="12">
                  <c:v>0.24968314</c:v>
                </c:pt>
                <c:pt idx="13">
                  <c:v>0.24472453</c:v>
                </c:pt>
                <c:pt idx="14">
                  <c:v>0.23491691</c:v>
                </c:pt>
                <c:pt idx="15">
                  <c:v>0.22554753</c:v>
                </c:pt>
                <c:pt idx="16">
                  <c:v>0.21533381</c:v>
                </c:pt>
                <c:pt idx="17">
                  <c:v>0.21062271</c:v>
                </c:pt>
                <c:pt idx="18">
                  <c:v>0.20556908</c:v>
                </c:pt>
                <c:pt idx="19">
                  <c:v>0.20099621</c:v>
                </c:pt>
                <c:pt idx="20">
                  <c:v>0.19937847</c:v>
                </c:pt>
                <c:pt idx="21">
                  <c:v>0.1926612</c:v>
                </c:pt>
                <c:pt idx="22">
                  <c:v>0.18926639</c:v>
                </c:pt>
                <c:pt idx="23">
                  <c:v>0.18463083</c:v>
                </c:pt>
                <c:pt idx="24">
                  <c:v>0.18128335</c:v>
                </c:pt>
                <c:pt idx="25">
                  <c:v>0.17818939</c:v>
                </c:pt>
                <c:pt idx="26">
                  <c:v>0.17593283</c:v>
                </c:pt>
                <c:pt idx="27">
                  <c:v>0.1749193</c:v>
                </c:pt>
                <c:pt idx="28">
                  <c:v>0.17509865</c:v>
                </c:pt>
                <c:pt idx="29">
                  <c:v>0.17307612</c:v>
                </c:pt>
              </c:numCache>
            </c:numRef>
          </c:yVal>
          <c:smooth val="0"/>
        </c:ser>
        <c:ser>
          <c:idx val="3"/>
          <c:order val="3"/>
          <c:tx>
            <c:v>11-input logistic</c:v>
          </c:tx>
          <c:spPr>
            <a:ln xmlns:a="http://schemas.openxmlformats.org/drawingml/2006/main" w="34290">
              <a:solidFill>
                <a:srgbClr val="185F91"/>
              </a:solidFill>
              <a:prstDash val="solid"/>
            </a:ln>
          </c:spPr>
          <c:marker>
            <c:symbol val="none"/>
          </c:marker>
          <c:xVal>
            <c:numRef>
              <c:f>'Chart Data'!$G$2:$G$31</c:f>
              <c:numCache>
                <c:formatCode>0%</c:formatCode>
                <c:ptCount val="30"/>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numCache>
            </c:numRef>
          </c:xVal>
          <c:yVal>
            <c:numRef>
              <c:f>'Chart Data'!$H$2:$H$31</c:f>
              <c:numCache>
                <c:formatCode>0.0%</c:formatCode>
                <c:ptCount val="30"/>
                <c:pt idx="0">
                  <c:v>0.44444444</c:v>
                </c:pt>
                <c:pt idx="1">
                  <c:v>0.39837398</c:v>
                </c:pt>
                <c:pt idx="2">
                  <c:v>0.3989071</c:v>
                </c:pt>
                <c:pt idx="3">
                  <c:v>0.36213992</c:v>
                </c:pt>
                <c:pt idx="4">
                  <c:v>0.3376367</c:v>
                </c:pt>
                <c:pt idx="5">
                  <c:v>0.31147541</c:v>
                </c:pt>
                <c:pt idx="6">
                  <c:v>0.28638498</c:v>
                </c:pt>
                <c:pt idx="7">
                  <c:v>0.27572016</c:v>
                </c:pt>
                <c:pt idx="8">
                  <c:v>0.26739927</c:v>
                </c:pt>
                <c:pt idx="9">
                  <c:v>0.26975727</c:v>
                </c:pt>
                <c:pt idx="10">
                  <c:v>0.26049368</c:v>
                </c:pt>
                <c:pt idx="11">
                  <c:v>0.25514403</c:v>
                </c:pt>
                <c:pt idx="12">
                  <c:v>0.24841572</c:v>
                </c:pt>
                <c:pt idx="13">
                  <c:v>0.2400297</c:v>
                </c:pt>
                <c:pt idx="14">
                  <c:v>0.23272031</c:v>
                </c:pt>
                <c:pt idx="15">
                  <c:v>0.22452191</c:v>
                </c:pt>
                <c:pt idx="16">
                  <c:v>0.22018442</c:v>
                </c:pt>
                <c:pt idx="17">
                  <c:v>0.21245421</c:v>
                </c:pt>
                <c:pt idx="18">
                  <c:v>0.20469426</c:v>
                </c:pt>
                <c:pt idx="19">
                  <c:v>0.19852504</c:v>
                </c:pt>
                <c:pt idx="20">
                  <c:v>0.19545505</c:v>
                </c:pt>
                <c:pt idx="21">
                  <c:v>0.19190876</c:v>
                </c:pt>
                <c:pt idx="22">
                  <c:v>0.18925868</c:v>
                </c:pt>
                <c:pt idx="23">
                  <c:v>0.18874606</c:v>
                </c:pt>
                <c:pt idx="24">
                  <c:v>0.18259826</c:v>
                </c:pt>
                <c:pt idx="25">
                  <c:v>0.17755326</c:v>
                </c:pt>
                <c:pt idx="26">
                  <c:v>0.17593283</c:v>
                </c:pt>
                <c:pt idx="27">
                  <c:v>0.17374456</c:v>
                </c:pt>
                <c:pt idx="28">
                  <c:v>0.17169926</c:v>
                </c:pt>
                <c:pt idx="29">
                  <c:v>0.17143321</c:v>
                </c:pt>
              </c:numCache>
            </c:numRef>
          </c:y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
        </c:scaling>
        <c:delete val="0"/>
        <c:axPos val="l"/>
        <c:majorGridlines>
          <c:spPr>
            <a:ln xmlns:a="http://schemas.openxmlformats.org/drawingml/2006/main" w="6668">
              <a:solidFill>
                <a:srgbClr val="DCE5EB"/>
              </a:solidFill>
              <a:prstDash val="solid"/>
            </a:ln>
          </c:spPr>
        </c:majorGridlines>
        <c:numFmt formatCode="0%"/>
        <c:majorTickMark val="none"/>
        <c:minorTickMark val="none"/>
        <c:spPr>
          <a:ln xmlns:a="http://schemas.openxmlformats.org/drawingml/2006/main" w="9525">
            <a:solidFill>
              <a:srgbClr val="DCE5EB"/>
            </a:solidFill>
            <a:prstDash val="solid"/>
          </a:ln>
        </c:spPr>
        <c:txPr>
          <a:bodyPr xmlns:a="http://schemas.openxmlformats.org/drawingml/2006/main" anchorCtr="1"/>
          <a:lstStyle xmlns:a="http://schemas.openxmlformats.org/drawingml/2006/main"/>
          <a:p xmlns:a="http://schemas.openxmlformats.org/drawingml/2006/main">
            <a:pPr>
              <a:defRPr sz="1275">
                <a:solidFill>
                  <a:srgbClr val="536774"/>
                </a:solidFill>
                <a:latin typeface="DejaVu Sans"/>
                <a:ea typeface="DejaVu Sans"/>
                <a:cs typeface="DejaVu Sans"/>
              </a:defRPr>
            </a:pPr>
          </a:p>
        </c:txPr>
        <c:crossAx val="48650112"/>
        <c:majorUnit val="0.1"/>
      </c:valAx>
      <c:valAx>
        <c:axId val="48650112"/>
        <c:scaling>
          <c:orientation val="minMax"/>
          <c:max val="0.3"/>
          <c:min val="0"/>
        </c:scaling>
        <c:delete val="0"/>
        <c:axPos val="b"/>
        <c:numFmt formatCode="0%"/>
        <c:majorTickMark val="none"/>
        <c:minorTickMark val="none"/>
        <c:spPr>
          <a:ln xmlns:a="http://schemas.openxmlformats.org/drawingml/2006/main" w="9525">
            <a:solidFill>
              <a:srgbClr val="DCE5EB"/>
            </a:solidFill>
            <a:prstDash val="solid"/>
          </a:ln>
        </c:spPr>
        <c:txPr>
          <a:bodyPr xmlns:a="http://schemas.openxmlformats.org/drawingml/2006/main" anchorCtr="1"/>
          <a:lstStyle xmlns:a="http://schemas.openxmlformats.org/drawingml/2006/main"/>
          <a:p xmlns:a="http://schemas.openxmlformats.org/drawingml/2006/main">
            <a:pPr>
              <a:defRPr sz="1275">
                <a:solidFill>
                  <a:srgbClr val="536774"/>
                </a:solidFill>
                <a:latin typeface="DejaVu Sans"/>
                <a:ea typeface="DejaVu Sans"/>
                <a:cs typeface="DejaVu Sans"/>
              </a:defRPr>
            </a:pPr>
          </a:p>
        </c:txPr>
        <c:crossAx val="48672768"/>
        <c:majorUnit val="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latin typeface="DejaVu Sans"/>
              <a:ea typeface="DejaVu Sans"/>
              <a:cs typeface="DejaVu Sans"/>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Zero</c:v>
          </c:tx>
          <c:spPr>
            <a:ln xmlns:a="http://schemas.openxmlformats.org/drawingml/2006/main" w="9525">
              <a:solidFill>
                <a:srgbClr val="81909C"/>
              </a:solidFill>
              <a:prstDash val="solid"/>
            </a:ln>
          </c:spPr>
          <c:marker>
            <c:symbol val="none"/>
          </c:marker>
          <c:xVal>
            <c:numRef>
              <c:f>'Chart Data'!$A$2:$A$3</c:f>
              <c:numCache>
                <c:formatCode>General</c:formatCode>
                <c:ptCount val="2"/>
                <c:pt idx="0">
                  <c:v>0</c:v>
                </c:pt>
                <c:pt idx="1">
                  <c:v>0</c:v>
                </c:pt>
              </c:numCache>
            </c:numRef>
          </c:xVal>
          <c:yVal>
            <c:numRef>
              <c:f>'Chart Data'!$B$2:$B$3</c:f>
              <c:numCache>
                <c:formatCode>General</c:formatCode>
                <c:ptCount val="2"/>
                <c:pt idx="0">
                  <c:v>0</c:v>
                </c:pt>
                <c:pt idx="1">
                  <c:v>1</c:v>
                </c:pt>
              </c:numCache>
            </c:numRef>
          </c:yVal>
          <c:smooth val="0"/>
        </c:ser>
        <c:ser>
          <c:idx val="1"/>
          <c:order val="1"/>
          <c:tx>
            <c:v>Conditional interval</c:v>
          </c:tx>
          <c:spPr>
            <a:ln xmlns:a="http://schemas.openxmlformats.org/drawingml/2006/main" w="38100">
              <a:solidFill>
                <a:srgbClr val="185F91"/>
              </a:solidFill>
              <a:prstDash val="solid"/>
            </a:ln>
          </c:spPr>
          <c:marker>
            <c:symbol val="none"/>
          </c:marker>
          <c:xVal>
            <c:numRef>
              <c:f>'Chart Data'!$C$2:$C$3</c:f>
              <c:numCache>
                <c:formatCode>General</c:formatCode>
                <c:ptCount val="2"/>
                <c:pt idx="0">
                  <c:v>-0.81543502</c:v>
                </c:pt>
                <c:pt idx="1">
                  <c:v>2.29728078</c:v>
                </c:pt>
              </c:numCache>
            </c:numRef>
          </c:xVal>
          <c:yVal>
            <c:numRef>
              <c:f>'Chart Data'!$D$2:$D$3</c:f>
              <c:numCache>
                <c:formatCode>General</c:formatCode>
                <c:ptCount val="2"/>
                <c:pt idx="0">
                  <c:v>0.5</c:v>
                </c:pt>
                <c:pt idx="1">
                  <c:v>0.5</c:v>
                </c:pt>
              </c:numCache>
            </c:numRef>
          </c:yVal>
          <c:smooth val="0"/>
        </c:ser>
        <c:ser>
          <c:idx val="2"/>
          <c:order val="2"/>
          <c:tx>
            <c:v>Observed difference</c:v>
          </c:tx>
          <c:spPr>
            <a:solidFill xmlns:a="http://schemas.openxmlformats.org/drawingml/2006/main">
              <a:srgbClr val="185F91"/>
            </a:solidFill>
            <a:ln xmlns:a="http://schemas.openxmlformats.org/drawingml/2006/main" w="47625">
              <a:solidFill>
                <a:srgbClr val="185F91"/>
              </a:solidFill>
              <a:prstDash val="solid"/>
            </a:ln>
          </c:spPr>
          <c:marker>
            <c:symbol val="none"/>
            <c:spPr>
              <ns0:solidFill xmlns:ns0="http://schemas.openxmlformats.org/drawingml/2006/main">
                <ns0:srgbClr val="185F91"/>
              </ns0:solidFill>
            </c:spPr>
          </c:marker>
          <c:xVal>
            <c:numRef>
              <c:f>'Chart Data'!$E$2:$E$3</c:f>
              <c:numCache>
                <c:formatCode>General</c:formatCode>
                <c:ptCount val="2"/>
                <c:pt idx="0">
                  <c:v>0.98847323</c:v>
                </c:pt>
                <c:pt idx="1">
                  <c:v>0.98847323</c:v>
                </c:pt>
              </c:numCache>
            </c:numRef>
          </c:xVal>
          <c:yVal>
            <c:numRef>
              <c:f>'Chart Data'!$F$2:$F$3</c:f>
              <c:numCache>
                <c:formatCode>General</c:formatCode>
                <c:ptCount val="2"/>
                <c:pt idx="0">
                  <c:v>0.44</c:v>
                </c:pt>
                <c:pt idx="1">
                  <c:v>0.56</c:v>
                </c:pt>
              </c:numCache>
            </c:numRef>
          </c:yVal>
          <c:smooth val="0"/>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valAx>
      <c:valAx>
        <c:axId val="48650112"/>
        <c:scaling>
          <c:orientation val="minMax"/>
          <c:max val="3"/>
          <c:min val="-1"/>
        </c:scaling>
        <c:delete val="0"/>
        <c:axPos val="b"/>
        <c:numFmt formatCode="0.0"/>
        <c:majorTickMark val="none"/>
        <c:minorTickMark val="none"/>
        <c:spPr>
          <a:ln xmlns:a="http://schemas.openxmlformats.org/drawingml/2006/main" w="9525">
            <a:solidFill>
              <a:srgbClr val="DCE5EB"/>
            </a:solidFill>
            <a:prstDash val="solid"/>
          </a:ln>
        </c:spPr>
        <c:txPr>
          <a:bodyPr xmlns:a="http://schemas.openxmlformats.org/drawingml/2006/main" anchorCtr="1"/>
          <a:lstStyle xmlns:a="http://schemas.openxmlformats.org/drawingml/2006/main"/>
          <a:p xmlns:a="http://schemas.openxmlformats.org/drawingml/2006/main">
            <a:pPr>
              <a:defRPr sz="1275">
                <a:solidFill>
                  <a:srgbClr val="536774"/>
                </a:solidFill>
                <a:latin typeface="DejaVu Sans"/>
                <a:ea typeface="DejaVu Sans"/>
                <a:cs typeface="DejaVu Sans"/>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a="http://schemas.openxmlformats.org/drawingml/2006/main" xmlns:ns2="http://schemas.microsoft.com/office/drawing/2014/main" xmlns:ns3="http://schemas.openxmlformats.org/drawingml/2006/chart" xmlns:ns4="http://schemas.openxmlformats.org/officeDocument/2006/relationships" xmlns:ns5="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
            <a:extLst>
              <a:ext uri="{FF2B5EF4-FFF2-40B4-BE49-F238E27FC236}">
                <ns2:creationId id="{6DD8A561-A56D-4965-826A-241A8125B71B}"/>
              </a:ext>
            </a:extLst>
          </p:cNvPr>
          <p:cNvSpPr>
            <a:spLocks noGrp="1"/>
          </p:cNvSpPr>
          <p:nvPr/>
        </p:nvSpPr>
        <p:spPr>
          <a:xfrm>
            <a:off x="609600" y="200025"/>
            <a:ext cx="10287000" cy="228600"/>
          </a:xfrm>
          <a:prstGeom prst="rect">
            <a:avLst/>
          </a:prstGeom>
          <a:noFill/>
          <a:ln w="0">
            <a:noFill/>
          </a:ln>
        </p:spPr>
        <p:txBody>
          <a:bodyPr>
            <a:noAutofit/>
          </a:bodyPr>
          <a:lstStyle/>
          <a:p>
            <a:pPr>
              <a:defRPr sz="1050" b="1">
                <a:solidFill>
                  <a:srgbClr val="185F91"/>
                </a:solidFill>
                <a:latin typeface="DejaVu Sans"/>
                <a:ea typeface="DejaVu Sans"/>
                <a:cs typeface="DejaVu Sans"/>
              </a:defRPr>
            </a:pPr>
            <a:r>
              <a:rPr sz="1050" b="1">
                <a:solidFill>
                  <a:srgbClr val="185F91"/>
                </a:solidFill>
                <a:latin typeface="DejaVu Sans"/>
                <a:ea typeface="DejaVu Sans"/>
                <a:cs typeface="DejaVu Sans"/>
              </a:rPr>
              <a:t>THE INVESTMENT QUESTION</a:t>
            </a:r>
          </a:p>
        </p:txBody>
      </p:sp>
      <p:sp>
        <p:nvSpPr>
          <p:cNvPr id="2" name="">
            <a:extLst>
              <a:ext uri="{FF2B5EF4-FFF2-40B4-BE49-F238E27FC236}">
                <ns2:creationId id="{66D30F05-DB7F-4E4E-8919-E13FB57B33E0}"/>
              </a:ext>
            </a:extLst>
          </p:cNvPr>
          <p:cNvSpPr>
            <a:spLocks noGrp="1"/>
          </p:cNvSpPr>
          <p:nvPr/>
        </p:nvSpPr>
        <p:spPr>
          <a:xfrm>
            <a:off x="10915650" y="190500"/>
            <a:ext cx="666750" cy="266700"/>
          </a:xfrm>
          <a:prstGeom prst="rect">
            <a:avLst/>
          </a:prstGeom>
          <a:noFill/>
          <a:ln w="0">
            <a:noFill/>
          </a:ln>
        </p:spPr>
        <p:txBody>
          <a:bodyPr>
            <a:noAutofit/>
          </a:bodyPr>
          <a:lstStyle/>
          <a:p>
            <a:pPr>
              <a:defRPr sz="1200" b="1">
                <a:solidFill>
                  <a:srgbClr val="536774"/>
                </a:solidFill>
                <a:latin typeface="DejaVu Sans"/>
                <a:ea typeface="DejaVu Sans"/>
                <a:cs typeface="DejaVu Sans"/>
              </a:defRPr>
            </a:pPr>
            <a:r>
              <a:rPr sz="1200" b="1">
                <a:solidFill>
                  <a:srgbClr val="536774"/>
                </a:solidFill>
                <a:latin typeface="DejaVu Sans"/>
                <a:ea typeface="DejaVu Sans"/>
                <a:cs typeface="DejaVu Sans"/>
              </a:rPr>
              <a:t>01</a:t>
            </a:r>
          </a:p>
        </p:txBody>
      </p:sp>
      <p:sp>
        <p:nvSpPr>
          <p:cNvPr id="3" name="">
            <a:extLst>
              <a:ext uri="{FF2B5EF4-FFF2-40B4-BE49-F238E27FC236}">
                <ns2:creationId id="{ADD00CD6-DF93-41EF-8CCF-BDE380BC34CD}"/>
              </a:ext>
            </a:extLst>
          </p:cNvPr>
          <p:cNvSpPr>
            <a:spLocks noGrp="1"/>
          </p:cNvSpPr>
          <p:nvPr/>
        </p:nvSpPr>
        <p:spPr>
          <a:xfrm>
            <a:off x="609600" y="590550"/>
            <a:ext cx="10972800" cy="990600"/>
          </a:xfrm>
          <a:prstGeom prst="rect">
            <a:avLst/>
          </a:prstGeom>
          <a:noFill/>
          <a:ln w="0">
            <a:noFill/>
          </a:ln>
        </p:spPr>
        <p:txBody>
          <a:bodyPr>
            <a:noAutofit/>
          </a:bodyPr>
          <a:lstStyle/>
          <a:p>
            <a:pPr>
              <a:defRPr sz="2850" b="1">
                <a:solidFill>
                  <a:srgbClr val="172D40"/>
                </a:solidFill>
                <a:latin typeface="DejaVu Sans"/>
                <a:ea typeface="DejaVu Sans"/>
                <a:cs typeface="DejaVu Sans"/>
              </a:defRPr>
            </a:pPr>
            <a:r>
              <a:rPr sz="2850" b="1">
                <a:solidFill>
                  <a:srgbClr val="172D40"/>
                </a:solidFill>
                <a:latin typeface="DejaVu Sans"/>
                <a:ea typeface="DejaVu Sans"/>
                <a:cs typeface="DejaVu Sans"/>
              </a:rPr>
              <a:t>Prioritisation merits a bounded investment</a:t>
            </a:r>
          </a:p>
        </p:txBody>
      </p:sp>
      <p:sp>
        <p:nvSpPr>
          <p:cNvPr id="4" name="">
            <a:extLst>
              <a:ext uri="{FF2B5EF4-FFF2-40B4-BE49-F238E27FC236}">
                <ns2:creationId id="{7AC71C1E-BC16-4798-AADC-3A3BF3CB28A5}"/>
              </a:ext>
            </a:extLst>
          </p:cNvPr>
          <p:cNvSpPr>
            <a:spLocks noGrp="1"/>
          </p:cNvSpPr>
          <p:nvPr/>
        </p:nvSpPr>
        <p:spPr>
          <a:xfrm>
            <a:off x="609600" y="6191250"/>
            <a:ext cx="10972800" cy="0"/>
          </a:xfrm>
          <a:prstGeom prst="line">
            <a:avLst/>
          </a:prstGeom>
          <a:noFill/>
          <a:ln w="9525">
            <a:solidFill>
              <a:srgbClr val="DCE5EB"/>
            </a:solidFill>
            <a:prstDash val="solid"/>
          </a:ln>
        </p:spPr>
      </p:sp>
      <p:sp>
        <p:nvSpPr>
          <p:cNvPr id="5" name="">
            <a:extLst>
              <a:ext uri="{FF2B5EF4-FFF2-40B4-BE49-F238E27FC236}">
                <ns2:creationId id="{B4E1FCCE-DC12-47D6-A379-93EAC65178DA}"/>
              </a:ext>
            </a:extLst>
          </p:cNvPr>
          <p:cNvSpPr>
            <a:spLocks noGrp="1"/>
          </p:cNvSpPr>
          <p:nvPr/>
        </p:nvSpPr>
        <p:spPr>
          <a:xfrm>
            <a:off x="609600" y="6334125"/>
            <a:ext cx="10972800" cy="323850"/>
          </a:xfrm>
          <a:prstGeom prst="rect">
            <a:avLst/>
          </a:prstGeom>
          <a:noFill/>
          <a:ln w="0">
            <a:noFill/>
          </a:ln>
        </p:spPr>
        <p:txBody>
          <a:bodyPr>
            <a:noAutofit/>
          </a:bodyPr>
          <a:lstStyle/>
          <a:p>
            <a:pPr>
              <a:defRPr sz="900" b="0">
                <a:solidFill>
                  <a:srgbClr val="536774"/>
                </a:solidFill>
                <a:latin typeface="DejaVu Sans"/>
                <a:ea typeface="DejaVu Sans"/>
                <a:cs typeface="DejaVu Sans"/>
              </a:defRPr>
            </a:pPr>
            <a:r>
              <a:rPr sz="900" b="0">
                <a:solidFill>
                  <a:srgbClr val="536774"/>
                </a:solidFill>
                <a:latin typeface="DejaVu Sans"/>
                <a:ea typeface="DejaVu Sans"/>
                <a:cs typeface="DejaVu Sans"/>
              </a:rPr>
              <a:t>Oct–Dec 2025 · Mean monthly precision at illustrative 10% capacity · Supplied strict-response label</a:t>
            </a:r>
          </a:p>
        </p:txBody>
      </p:sp>
      <p:sp>
        <p:nvSpPr>
          <p:cNvPr id="6" name="">
            <a:extLst>
              <a:ext uri="{FF2B5EF4-FFF2-40B4-BE49-F238E27FC236}">
                <ns2:creationId id="{02752D38-CE29-4684-ACC6-B9025A5FB6B6}"/>
              </a:ext>
            </a:extLst>
          </p:cNvPr>
          <p:cNvSpPr>
            <a:spLocks noGrp="1"/>
          </p:cNvSpPr>
          <p:nvPr/>
        </p:nvSpPr>
        <p:spPr>
          <a:xfrm>
            <a:off x="609600" y="1609725"/>
            <a:ext cx="5762625" cy="619125"/>
          </a:xfrm>
          <a:prstGeom prst="rect">
            <a:avLst/>
          </a:prstGeom>
          <a:noFill/>
          <a:ln w="0">
            <a:noFill/>
          </a:ln>
        </p:spPr>
        <p:txBody>
          <a:bodyPr>
            <a:noAutofit/>
          </a:bodyPr>
          <a:lstStyle/>
          <a:p>
            <a:pPr>
              <a:defRPr sz="2025" b="1">
                <a:solidFill>
                  <a:srgbClr val="172D40"/>
                </a:solidFill>
                <a:latin typeface="DejaVu Sans"/>
                <a:ea typeface="DejaVu Sans"/>
                <a:cs typeface="DejaVu Sans"/>
              </a:defRPr>
            </a:pPr>
            <a:r>
              <a:rPr sz="2025" b="1">
                <a:solidFill>
                  <a:srgbClr val="172D40"/>
                </a:solidFill>
                <a:latin typeface="DejaVu Sans"/>
                <a:ea typeface="DejaVu Sans"/>
                <a:cs typeface="DejaVu Sans"/>
              </a:rPr>
              <a:t>Simple profiles reveal a useful ranking signal</a:t>
            </a:r>
          </a:p>
        </p:txBody>
      </p:sp>
      <p:graphicFrame>
        <p:nvGraphicFramePr>
          <p:cNvPr id="20" name="Chart"/>
          <p:cNvGraphicFramePr/>
          <p:nvPr/>
        </p:nvGraphicFramePr>
        <p:xfrm>
          <a:off x="609600" y="2314575"/>
          <a:ext cx="5438775" cy="2705100"/>
        </p:xfrm>
        <a:graphic>
          <a:graphicData uri="http://schemas.openxmlformats.org/drawingml/2006/chart">
            <ns3:chart ns4:id="R3f773dc78d894e2b"/>
          </a:graphicData>
        </a:graphic>
      </p:graphicFrame>
      <p:sp>
        <p:nvSpPr>
          <p:cNvPr id="8" name="">
            <a:extLst>
              <a:ext uri="{FF2B5EF4-FFF2-40B4-BE49-F238E27FC236}">
                <ns2:creationId id="{8B4B4C9C-A87E-4E2E-A41A-2C2D4F8B31BF}"/>
              </a:ext>
            </a:extLst>
          </p:cNvPr>
          <p:cNvSpPr>
            <a:spLocks noGrp="1"/>
          </p:cNvSpPr>
          <p:nvPr/>
        </p:nvSpPr>
        <p:spPr>
          <a:xfrm>
            <a:off x="6572250" y="1619250"/>
            <a:ext cx="5010150" cy="3429000"/>
          </a:xfrm>
          <a:prstGeom prst="rect">
            <a:avLst/>
          </a:prstGeom>
          <a:solidFill>
            <a:srgbClr val="EFF5F8"/>
          </a:solidFill>
          <a:ln w="0">
            <a:noFill/>
          </a:ln>
        </p:spPr>
      </p:sp>
      <p:sp>
        <p:nvSpPr>
          <p:cNvPr id="9" name="">
            <a:extLst>
              <a:ext uri="{FF2B5EF4-FFF2-40B4-BE49-F238E27FC236}">
                <ns2:creationId id="{A0DE62C6-0469-47F2-BB71-B5A0337D6615}"/>
              </a:ext>
            </a:extLst>
          </p:cNvPr>
          <p:cNvSpPr>
            <a:spLocks noGrp="1"/>
          </p:cNvSpPr>
          <p:nvPr/>
        </p:nvSpPr>
        <p:spPr>
          <a:xfrm>
            <a:off x="6838950" y="1847850"/>
            <a:ext cx="4429125" cy="457200"/>
          </a:xfrm>
          <a:prstGeom prst="rect">
            <a:avLst/>
          </a:prstGeom>
          <a:noFill/>
          <a:ln w="0">
            <a:noFill/>
          </a:ln>
        </p:spPr>
        <p:txBody>
          <a:bodyPr>
            <a:noAutofit/>
          </a:bodyPr>
          <a:lstStyle/>
          <a:p>
            <a:pPr>
              <a:defRPr sz="2250" b="1">
                <a:solidFill>
                  <a:srgbClr val="185F91"/>
                </a:solidFill>
                <a:latin typeface="DejaVu Sans"/>
                <a:ea typeface="DejaVu Sans"/>
                <a:cs typeface="DejaVu Sans"/>
              </a:defRPr>
            </a:pPr>
            <a:r>
              <a:rPr sz="2250" b="1">
                <a:solidFill>
                  <a:srgbClr val="185F91"/>
                </a:solidFill>
                <a:latin typeface="DejaVu Sans"/>
                <a:ea typeface="DejaVu Sans"/>
                <a:cs typeface="DejaVu Sans"/>
              </a:rPr>
              <a:t>ITERATE</a:t>
            </a:r>
          </a:p>
        </p:txBody>
      </p:sp>
      <p:sp>
        <p:nvSpPr>
          <p:cNvPr id="10" name="">
            <a:extLst>
              <a:ext uri="{FF2B5EF4-FFF2-40B4-BE49-F238E27FC236}">
                <ns2:creationId id="{BA08424E-95C2-4577-B917-A8898FA4EBCF}"/>
              </a:ext>
            </a:extLst>
          </p:cNvPr>
          <p:cNvSpPr>
            <a:spLocks noGrp="1"/>
          </p:cNvSpPr>
          <p:nvPr/>
        </p:nvSpPr>
        <p:spPr>
          <a:xfrm>
            <a:off x="6838950" y="2524125"/>
            <a:ext cx="4410075" cy="1352550"/>
          </a:xfrm>
          <a:prstGeom prst="rect">
            <a:avLst/>
          </a:prstGeom>
          <a:noFill/>
          <a:ln w="0">
            <a:noFill/>
          </a:ln>
        </p:spPr>
        <p:txBody>
          <a:bodyPr>
            <a:noAutofit/>
          </a:bodyPr>
          <a:lstStyle/>
          <a:p>
            <a:pPr>
              <a:defRPr sz="2400" b="1">
                <a:solidFill>
                  <a:srgbClr val="172D40"/>
                </a:solidFill>
                <a:latin typeface="DejaVu Sans"/>
                <a:ea typeface="DejaVu Sans"/>
                <a:cs typeface="DejaVu Sans"/>
              </a:defRPr>
            </a:pPr>
            <a:r>
              <a:rPr sz="2400" b="1">
                <a:solidFill>
                  <a:srgbClr val="172D40"/>
                </a:solidFill>
                <a:latin typeface="DejaVu Sans"/>
                <a:ea typeface="DejaVu Sans"/>
                <a:cs typeface="DejaVu Sans"/>
              </a:rPr>
              <a:t>Validate a simple policy before scaling engagement decisions.</a:t>
            </a:r>
          </a:p>
        </p:txBody>
      </p:sp>
      <p:sp>
        <p:nvSpPr>
          <p:cNvPr id="11" name="">
            <a:extLst>
              <a:ext uri="{FF2B5EF4-FFF2-40B4-BE49-F238E27FC236}">
                <ns2:creationId id="{1450A9E2-9616-4E86-B6FA-A5C519962DDD}"/>
              </a:ext>
            </a:extLst>
          </p:cNvPr>
          <p:cNvSpPr>
            <a:spLocks noGrp="1"/>
          </p:cNvSpPr>
          <p:nvPr/>
        </p:nvSpPr>
        <p:spPr>
          <a:xfrm>
            <a:off x="6838950" y="4124325"/>
            <a:ext cx="4410075" cy="714375"/>
          </a:xfrm>
          <a:prstGeom prst="rect">
            <a:avLst/>
          </a:prstGeom>
          <a:noFill/>
          <a:ln w="0">
            <a:noFill/>
          </a:ln>
        </p:spPr>
        <p:txBody>
          <a:bodyPr>
            <a:noAutofit/>
          </a:bodyPr>
          <a:lstStyle/>
          <a:p>
            <a:pPr>
              <a:defRPr sz="1875" b="0">
                <a:solidFill>
                  <a:srgbClr val="172D40"/>
                </a:solidFill>
                <a:latin typeface="DejaVu Sans"/>
                <a:ea typeface="DejaVu Sans"/>
                <a:cs typeface="DejaVu Sans"/>
              </a:defRPr>
            </a:pPr>
            <a:r>
              <a:rPr sz="1875" b="0">
                <a:solidFill>
                  <a:srgbClr val="172D40"/>
                </a:solidFill>
                <a:latin typeface="DejaVu Sans"/>
                <a:ea typeface="DejaVu Sans"/>
                <a:cs typeface="DejaVu Sans"/>
              </a:rPr>
              <a:t>Extra inputs must demonstrate additional value.</a:t>
            </a:r>
          </a:p>
        </p:txBody>
      </p:sp>
      <p:sp>
        <p:nvSpPr>
          <p:cNvPr id="12" name="">
            <a:extLst>
              <a:ext uri="{FF2B5EF4-FFF2-40B4-BE49-F238E27FC236}">
                <ns2:creationId id="{D0F8F5D9-DD3C-41DA-968E-EF07C49A45CB}"/>
              </a:ext>
            </a:extLst>
          </p:cNvPr>
          <p:cNvSpPr>
            <a:spLocks noGrp="1"/>
          </p:cNvSpPr>
          <p:nvPr/>
        </p:nvSpPr>
        <p:spPr>
          <a:xfrm>
            <a:off x="609600" y="5334000"/>
            <a:ext cx="10972800" cy="333375"/>
          </a:xfrm>
          <a:prstGeom prst="rect">
            <a:avLst/>
          </a:prstGeom>
          <a:noFill/>
          <a:ln w="0">
            <a:noFill/>
          </a:ln>
        </p:spPr>
        <p:txBody>
          <a:bodyPr>
            <a:noAutofit/>
          </a:bodyPr>
          <a:lstStyle/>
          <a:p>
            <a:pPr>
              <a:defRPr sz="1875" b="1">
                <a:solidFill>
                  <a:srgbClr val="172D40"/>
                </a:solidFill>
                <a:latin typeface="DejaVu Sans"/>
                <a:ea typeface="DejaVu Sans"/>
                <a:cs typeface="DejaVu Sans"/>
              </a:defRPr>
            </a:pPr>
            <a:r>
              <a:rPr sz="1875" b="1">
                <a:solidFill>
                  <a:srgbClr val="172D40"/>
                </a:solidFill>
                <a:latin typeface="DejaVu Sans"/>
                <a:ea typeface="DejaVu Sans"/>
                <a:cs typeface="DejaVu Sans"/>
              </a:rPr>
              <a:t>Target: substantial subsequent increase in new prescriptions, as supplied.</a:t>
            </a:r>
          </a:p>
        </p:txBody>
      </p:sp>
      <p:sp>
        <p:nvSpPr>
          <p:cNvPr id="13" name="">
            <a:extLst>
              <a:ext uri="{FF2B5EF4-FFF2-40B4-BE49-F238E27FC236}">
                <ns2:creationId id="{50A33427-8E57-40B7-9817-768DAAE8990B}"/>
              </a:ext>
            </a:extLst>
          </p:cNvPr>
          <p:cNvSpPr>
            <a:spLocks noGrp="1"/>
          </p:cNvSpPr>
          <p:nvPr/>
        </p:nvSpPr>
        <p:spPr>
          <a:xfrm>
            <a:off x="609600" y="5819775"/>
            <a:ext cx="10972800" cy="285750"/>
          </a:xfrm>
          <a:prstGeom prst="rect">
            <a:avLst/>
          </a:prstGeom>
          <a:noFill/>
          <a:ln w="0">
            <a:noFill/>
          </a:ln>
        </p:spPr>
        <p:txBody>
          <a:bodyPr>
            <a:noAutofit/>
          </a:bodyPr>
          <a:lstStyle/>
          <a:p>
            <a:pPr>
              <a:defRPr sz="1725" b="0">
                <a:solidFill>
                  <a:srgbClr val="536774"/>
                </a:solidFill>
                <a:latin typeface="DejaVu Sans"/>
                <a:ea typeface="DejaVu Sans"/>
                <a:cs typeface="DejaVu Sans"/>
              </a:defRPr>
            </a:pPr>
            <a:r>
              <a:rPr sz="1725" b="0">
                <a:solidFill>
                  <a:srgbClr val="536774"/>
                </a:solidFill>
                <a:latin typeface="DejaVu Sans"/>
                <a:ea typeface="DejaVu Sans"/>
                <a:cs typeface="DejaVu Sans"/>
              </a:rPr>
              <a:t>2,100 HCPs  ·  48,585 labelled months  ·  12,723 required scores</a:t>
            </a:r>
          </a:p>
        </p:txBody>
      </p:sp>
    </p:spTree>
    <p:extLst>
      <p:ext uri="{BB962C8B-B14F-4D97-AF65-F5344CB8AC3E}">
        <ns5:creationId val="333765225"/>
      </p:ext>
    </p:extLst>
  </p:cSld>
</p:sld>
</file>

<file path=ppt/slides/slide2.xml><?xml version="1.0" encoding="utf-8"?>
<p:sld xmlns:a="http://schemas.openxmlformats.org/drawingml/2006/main" xmlns:ns2="http://schemas.microsoft.com/office/drawing/2014/main" xmlns:ns3="http://schemas.openxmlformats.org/drawingml/2006/chart" xmlns:ns4="http://schemas.openxmlformats.org/officeDocument/2006/relationships" xmlns:ns5="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4" name="">
            <a:extLst>
              <a:ext uri="{FF2B5EF4-FFF2-40B4-BE49-F238E27FC236}">
                <ns2:creationId id="{92D6F84E-5BF1-474A-B7DE-A477461A7B44}"/>
              </a:ext>
            </a:extLst>
          </p:cNvPr>
          <p:cNvSpPr>
            <a:spLocks noGrp="1"/>
          </p:cNvSpPr>
          <p:nvPr/>
        </p:nvSpPr>
        <p:spPr>
          <a:xfrm>
            <a:off x="609600" y="200025"/>
            <a:ext cx="10287000" cy="228600"/>
          </a:xfrm>
          <a:prstGeom prst="rect">
            <a:avLst/>
          </a:prstGeom>
          <a:noFill/>
          <a:ln w="0">
            <a:noFill/>
          </a:ln>
        </p:spPr>
        <p:txBody>
          <a:bodyPr>
            <a:noAutofit/>
          </a:bodyPr>
          <a:lstStyle/>
          <a:p>
            <a:pPr>
              <a:defRPr sz="1050" b="1">
                <a:solidFill>
                  <a:srgbClr val="185F91"/>
                </a:solidFill>
                <a:latin typeface="DejaVu Sans"/>
                <a:ea typeface="DejaVu Sans"/>
                <a:cs typeface="DejaVu Sans"/>
              </a:defRPr>
            </a:pPr>
            <a:r>
              <a:rPr sz="1050" b="1">
                <a:solidFill>
                  <a:srgbClr val="185F91"/>
                </a:solidFill>
                <a:latin typeface="DejaVu Sans"/>
                <a:ea typeface="DejaVu Sans"/>
                <a:cs typeface="DejaVu Sans"/>
              </a:rPr>
              <a:t>DATA OBSERVATIONS</a:t>
            </a:r>
          </a:p>
        </p:txBody>
      </p:sp>
      <p:sp>
        <p:nvSpPr>
          <p:cNvPr id="2" name="">
            <a:extLst>
              <a:ext uri="{FF2B5EF4-FFF2-40B4-BE49-F238E27FC236}">
                <ns2:creationId id="{427F2BE3-9524-4FEB-AD1F-9A7E88EF1ECE}"/>
              </a:ext>
            </a:extLst>
          </p:cNvPr>
          <p:cNvSpPr>
            <a:spLocks noGrp="1"/>
          </p:cNvSpPr>
          <p:nvPr/>
        </p:nvSpPr>
        <p:spPr>
          <a:xfrm>
            <a:off x="10915650" y="190500"/>
            <a:ext cx="666750" cy="266700"/>
          </a:xfrm>
          <a:prstGeom prst="rect">
            <a:avLst/>
          </a:prstGeom>
          <a:noFill/>
          <a:ln w="0">
            <a:noFill/>
          </a:ln>
        </p:spPr>
        <p:txBody>
          <a:bodyPr>
            <a:noAutofit/>
          </a:bodyPr>
          <a:lstStyle/>
          <a:p>
            <a:pPr>
              <a:defRPr sz="1200" b="1">
                <a:solidFill>
                  <a:srgbClr val="536774"/>
                </a:solidFill>
                <a:latin typeface="DejaVu Sans"/>
                <a:ea typeface="DejaVu Sans"/>
                <a:cs typeface="DejaVu Sans"/>
              </a:defRPr>
            </a:pPr>
            <a:r>
              <a:rPr sz="1200" b="1">
                <a:solidFill>
                  <a:srgbClr val="536774"/>
                </a:solidFill>
                <a:latin typeface="DejaVu Sans"/>
                <a:ea typeface="DejaVu Sans"/>
                <a:cs typeface="DejaVu Sans"/>
              </a:rPr>
              <a:t>02</a:t>
            </a:r>
          </a:p>
        </p:txBody>
      </p:sp>
      <p:sp>
        <p:nvSpPr>
          <p:cNvPr id="3" name="">
            <a:extLst>
              <a:ext uri="{FF2B5EF4-FFF2-40B4-BE49-F238E27FC236}">
                <ns2:creationId id="{22A4B88B-DEAB-4AD7-9138-A34FA41FFAA9}"/>
              </a:ext>
            </a:extLst>
          </p:cNvPr>
          <p:cNvSpPr>
            <a:spLocks noGrp="1"/>
          </p:cNvSpPr>
          <p:nvPr/>
        </p:nvSpPr>
        <p:spPr>
          <a:xfrm>
            <a:off x="609600" y="590550"/>
            <a:ext cx="10972800" cy="990600"/>
          </a:xfrm>
          <a:prstGeom prst="rect">
            <a:avLst/>
          </a:prstGeom>
          <a:noFill/>
          <a:ln w="0">
            <a:noFill/>
          </a:ln>
        </p:spPr>
        <p:txBody>
          <a:bodyPr>
            <a:noAutofit/>
          </a:bodyPr>
          <a:lstStyle/>
          <a:p>
            <a:pPr>
              <a:defRPr sz="2850" b="1">
                <a:solidFill>
                  <a:srgbClr val="172D40"/>
                </a:solidFill>
                <a:latin typeface="DejaVu Sans"/>
                <a:ea typeface="DejaVu Sans"/>
                <a:cs typeface="DejaVu Sans"/>
              </a:defRPr>
            </a:pPr>
            <a:r>
              <a:rPr sz="2850" b="1">
                <a:solidFill>
                  <a:srgbClr val="172D40"/>
                </a:solidFill>
                <a:latin typeface="DejaVu Sans"/>
                <a:ea typeface="DejaVu Sans"/>
                <a:cs typeface="DejaVu Sans"/>
              </a:rPr>
              <a:t>Data meaning and timing constrain the evidence</a:t>
            </a:r>
          </a:p>
        </p:txBody>
      </p:sp>
      <p:sp>
        <p:nvSpPr>
          <p:cNvPr id="4" name="">
            <a:extLst>
              <a:ext uri="{FF2B5EF4-FFF2-40B4-BE49-F238E27FC236}">
                <ns2:creationId id="{77D6EF17-33B3-4171-AFFE-7FC68E2EA6B7}"/>
              </a:ext>
            </a:extLst>
          </p:cNvPr>
          <p:cNvSpPr>
            <a:spLocks noGrp="1"/>
          </p:cNvSpPr>
          <p:nvPr/>
        </p:nvSpPr>
        <p:spPr>
          <a:xfrm>
            <a:off x="609600" y="6191250"/>
            <a:ext cx="10972800" cy="0"/>
          </a:xfrm>
          <a:prstGeom prst="line">
            <a:avLst/>
          </a:prstGeom>
          <a:noFill/>
          <a:ln w="9525">
            <a:solidFill>
              <a:srgbClr val="DCE5EB"/>
            </a:solidFill>
            <a:prstDash val="solid"/>
          </a:ln>
        </p:spPr>
      </p:sp>
      <p:sp>
        <p:nvSpPr>
          <p:cNvPr id="5" name="">
            <a:extLst>
              <a:ext uri="{FF2B5EF4-FFF2-40B4-BE49-F238E27FC236}">
                <ns2:creationId id="{FB3A02EF-736C-4DA4-83A4-47792E23D6ED}"/>
              </a:ext>
            </a:extLst>
          </p:cNvPr>
          <p:cNvSpPr>
            <a:spLocks noGrp="1"/>
          </p:cNvSpPr>
          <p:nvPr/>
        </p:nvSpPr>
        <p:spPr>
          <a:xfrm>
            <a:off x="609600" y="6334125"/>
            <a:ext cx="10972800" cy="323850"/>
          </a:xfrm>
          <a:prstGeom prst="rect">
            <a:avLst/>
          </a:prstGeom>
          <a:noFill/>
          <a:ln w="0">
            <a:noFill/>
          </a:ln>
        </p:spPr>
        <p:txBody>
          <a:bodyPr>
            <a:noAutofit/>
          </a:bodyPr>
          <a:lstStyle/>
          <a:p>
            <a:pPr>
              <a:defRPr sz="900" b="0">
                <a:solidFill>
                  <a:srgbClr val="536774"/>
                </a:solidFill>
                <a:latin typeface="DejaVu Sans"/>
                <a:ea typeface="DejaVu Sans"/>
                <a:cs typeface="DejaVu Sans"/>
              </a:defRPr>
            </a:pPr>
            <a:r>
              <a:rPr sz="900" b="0">
                <a:solidFill>
                  <a:srgbClr val="536774"/>
                </a:solidFill>
                <a:latin typeface="DejaVu Sans"/>
                <a:ea typeface="DejaVu Sans"/>
                <a:cs typeface="DejaVu Sans"/>
              </a:rPr>
              <a:t>Initial review: flags and prescription scales · Later audits: attendance and conditional label compatibility</a:t>
            </a:r>
          </a:p>
        </p:txBody>
      </p:sp>
      <p:sp>
        <p:nvSpPr>
          <p:cNvPr id="6" name="">
            <a:extLst>
              <a:ext uri="{FF2B5EF4-FFF2-40B4-BE49-F238E27FC236}">
                <ns2:creationId id="{F9E0B4DC-C421-4412-B008-798E96F3692B}"/>
              </a:ext>
            </a:extLst>
          </p:cNvPr>
          <p:cNvSpPr>
            <a:spLocks noGrp="1"/>
          </p:cNvSpPr>
          <p:nvPr/>
        </p:nvSpPr>
        <p:spPr>
          <a:xfrm>
            <a:off x="609600" y="1609725"/>
            <a:ext cx="6400800" cy="409575"/>
          </a:xfrm>
          <a:prstGeom prst="rect">
            <a:avLst/>
          </a:prstGeom>
          <a:noFill/>
          <a:ln w="0">
            <a:noFill/>
          </a:ln>
        </p:spPr>
        <p:txBody>
          <a:bodyPr>
            <a:noAutofit/>
          </a:bodyPr>
          <a:lstStyle/>
          <a:p>
            <a:pPr>
              <a:defRPr sz="2025" b="1">
                <a:solidFill>
                  <a:srgbClr val="172D40"/>
                </a:solidFill>
                <a:latin typeface="DejaVu Sans"/>
                <a:ea typeface="DejaVu Sans"/>
                <a:cs typeface="DejaVu Sans"/>
              </a:defRPr>
            </a:pPr>
            <a:r>
              <a:rPr sz="2025" b="1">
                <a:solidFill>
                  <a:srgbClr val="172D40"/>
                </a:solidFill>
                <a:latin typeface="DejaVu Sans"/>
                <a:ea typeface="DejaVu Sans"/>
                <a:cs typeface="DejaVu Sans"/>
              </a:rPr>
              <a:t>Strict response by operational flags</a:t>
            </a:r>
          </a:p>
        </p:txBody>
      </p:sp>
      <p:graphicFrame>
        <p:nvGraphicFramePr>
          <p:cNvPr id="20" name="Chart"/>
          <p:cNvGraphicFramePr/>
          <p:nvPr/>
        </p:nvGraphicFramePr>
        <p:xfrm>
          <a:off x="609600" y="2209800"/>
          <a:ext cx="6381750" cy="2876550"/>
        </p:xfrm>
        <a:graphic>
          <a:graphicData uri="http://schemas.openxmlformats.org/drawingml/2006/chart">
            <ns3:chart ns4:id="Rcfba2c170e82499b"/>
          </a:graphicData>
        </a:graphic>
      </p:graphicFrame>
      <p:sp>
        <p:nvSpPr>
          <p:cNvPr id="8" name="">
            <a:extLst>
              <a:ext uri="{FF2B5EF4-FFF2-40B4-BE49-F238E27FC236}">
                <ns2:creationId id="{65612383-760C-4B64-9082-61DA9054EF86}"/>
              </a:ext>
            </a:extLst>
          </p:cNvPr>
          <p:cNvSpPr>
            <a:spLocks noGrp="1"/>
          </p:cNvSpPr>
          <p:nvPr/>
        </p:nvSpPr>
        <p:spPr>
          <a:xfrm>
            <a:off x="7429500" y="1657350"/>
            <a:ext cx="4143375" cy="361950"/>
          </a:xfrm>
          <a:prstGeom prst="rect">
            <a:avLst/>
          </a:prstGeom>
          <a:noFill/>
          <a:ln w="0">
            <a:noFill/>
          </a:ln>
        </p:spPr>
        <p:txBody>
          <a:bodyPr>
            <a:noAutofit/>
          </a:bodyPr>
          <a:lstStyle/>
          <a:p>
            <a:pPr>
              <a:defRPr sz="2025" b="1">
                <a:solidFill>
                  <a:srgbClr val="185F91"/>
                </a:solidFill>
                <a:latin typeface="DejaVu Sans"/>
                <a:ea typeface="DejaVu Sans"/>
                <a:cs typeface="DejaVu Sans"/>
              </a:defRPr>
            </a:pPr>
            <a:r>
              <a:rPr sz="2025" b="1">
                <a:solidFill>
                  <a:srgbClr val="185F91"/>
                </a:solidFill>
                <a:latin typeface="DejaVu Sans"/>
                <a:ea typeface="DejaVu Sans"/>
                <a:cs typeface="DejaVu Sans"/>
              </a:rPr>
              <a:t>Availability</a:t>
            </a:r>
          </a:p>
        </p:txBody>
      </p:sp>
      <p:sp>
        <p:nvSpPr>
          <p:cNvPr id="9" name="">
            <a:extLst>
              <a:ext uri="{FF2B5EF4-FFF2-40B4-BE49-F238E27FC236}">
                <ns2:creationId id="{0A425762-3B46-4AA6-BB07-AD0B8DBC5164}"/>
              </a:ext>
            </a:extLst>
          </p:cNvPr>
          <p:cNvSpPr>
            <a:spLocks noGrp="1"/>
          </p:cNvSpPr>
          <p:nvPr/>
        </p:nvSpPr>
        <p:spPr>
          <a:xfrm>
            <a:off x="7429500" y="2105025"/>
            <a:ext cx="4143375" cy="714375"/>
          </a:xfrm>
          <a:prstGeom prst="rect">
            <a:avLst/>
          </a:prstGeom>
          <a:noFill/>
          <a:ln w="0">
            <a:noFill/>
          </a:ln>
        </p:spPr>
        <p:txBody>
          <a:bodyPr>
            <a:noAutofit/>
          </a:bodyPr>
          <a:lstStyle/>
          <a:p>
            <a:pPr>
              <a:defRPr sz="1800" b="0">
                <a:solidFill>
                  <a:srgbClr val="172D40"/>
                </a:solidFill>
                <a:latin typeface="DejaVu Sans"/>
                <a:ea typeface="DejaVu Sans"/>
                <a:cs typeface="DejaVu Sans"/>
              </a:defRPr>
            </a:pPr>
            <a:r>
              <a:rPr sz="1800" b="0">
                <a:solidFill>
                  <a:srgbClr val="172D40"/>
                </a:solidFill>
                <a:latin typeface="DejaVu Sans"/>
                <a:ea typeface="DejaVu Sans"/>
                <a:cs typeface="DejaVu Sans"/>
              </a:rPr>
              <a:t>Late updates; follow-up missing in 87.8% of scoring rows.</a:t>
            </a:r>
          </a:p>
        </p:txBody>
      </p:sp>
      <p:sp>
        <p:nvSpPr>
          <p:cNvPr id="10" name="">
            <a:extLst>
              <a:ext uri="{FF2B5EF4-FFF2-40B4-BE49-F238E27FC236}">
                <ns2:creationId id="{97189ADA-903E-4CCA-820E-CF499434ADCB}"/>
              </a:ext>
            </a:extLst>
          </p:cNvPr>
          <p:cNvSpPr>
            <a:spLocks noGrp="1"/>
          </p:cNvSpPr>
          <p:nvPr/>
        </p:nvSpPr>
        <p:spPr>
          <a:xfrm>
            <a:off x="7429500" y="3009900"/>
            <a:ext cx="4143375" cy="352425"/>
          </a:xfrm>
          <a:prstGeom prst="rect">
            <a:avLst/>
          </a:prstGeom>
          <a:noFill/>
          <a:ln w="0">
            <a:noFill/>
          </a:ln>
        </p:spPr>
        <p:txBody>
          <a:bodyPr>
            <a:noAutofit/>
          </a:bodyPr>
          <a:lstStyle/>
          <a:p>
            <a:pPr>
              <a:defRPr sz="2025" b="1">
                <a:solidFill>
                  <a:srgbClr val="185F91"/>
                </a:solidFill>
                <a:latin typeface="DejaVu Sans"/>
                <a:ea typeface="DejaVu Sans"/>
                <a:cs typeface="DejaVu Sans"/>
              </a:defRPr>
            </a:pPr>
            <a:r>
              <a:rPr sz="2025" b="1">
                <a:solidFill>
                  <a:srgbClr val="185F91"/>
                </a:solidFill>
                <a:latin typeface="DejaVu Sans"/>
                <a:ea typeface="DejaVu Sans"/>
                <a:cs typeface="DejaVu Sans"/>
              </a:rPr>
              <a:t>Measurement</a:t>
            </a:r>
          </a:p>
        </p:txBody>
      </p:sp>
      <p:sp>
        <p:nvSpPr>
          <p:cNvPr id="11" name="">
            <a:extLst>
              <a:ext uri="{FF2B5EF4-FFF2-40B4-BE49-F238E27FC236}">
                <ns2:creationId id="{0F2C0FC6-9105-4109-9CDF-33773D635949}"/>
              </a:ext>
            </a:extLst>
          </p:cNvPr>
          <p:cNvSpPr>
            <a:spLocks noGrp="1"/>
          </p:cNvSpPr>
          <p:nvPr/>
        </p:nvSpPr>
        <p:spPr>
          <a:xfrm>
            <a:off x="7429500" y="3448050"/>
            <a:ext cx="4143375" cy="1066800"/>
          </a:xfrm>
          <a:prstGeom prst="rect">
            <a:avLst/>
          </a:prstGeom>
          <a:noFill/>
          <a:ln w="0">
            <a:noFill/>
          </a:ln>
        </p:spPr>
        <p:txBody>
          <a:bodyPr>
            <a:noAutofit/>
          </a:bodyPr>
          <a:lstStyle/>
          <a:p>
            <a:pPr>
              <a:defRPr sz="1800" b="0">
                <a:solidFill>
                  <a:srgbClr val="172D40"/>
                </a:solidFill>
                <a:latin typeface="DejaVu Sans"/>
                <a:ea typeface="DejaVu Sans"/>
                <a:cs typeface="DejaVu Sans"/>
              </a:defRPr>
            </a:pPr>
            <a:r>
              <a:rPr sz="1800" b="0">
                <a:solidFill>
                  <a:srgbClr val="172D40"/>
                </a:solidFill>
                <a:latin typeface="DejaVu Sans"/>
                <a:ea typeface="DejaVu Sans"/>
                <a:cs typeface="DejaVu Sans"/>
              </a:rPr>
              <a:t>Prescription scales change. Attendance histories conflict with their stated definition.</a:t>
            </a:r>
          </a:p>
        </p:txBody>
      </p:sp>
      <p:sp>
        <p:nvSpPr>
          <p:cNvPr id="12" name="">
            <a:extLst>
              <a:ext uri="{FF2B5EF4-FFF2-40B4-BE49-F238E27FC236}">
                <ns2:creationId id="{A0E3BDC6-676A-4050-BF22-5AE931E9FE10}"/>
              </a:ext>
            </a:extLst>
          </p:cNvPr>
          <p:cNvSpPr>
            <a:spLocks noGrp="1"/>
          </p:cNvSpPr>
          <p:nvPr/>
        </p:nvSpPr>
        <p:spPr>
          <a:xfrm>
            <a:off x="609600" y="5257800"/>
            <a:ext cx="10972800" cy="771525"/>
          </a:xfrm>
          <a:prstGeom prst="rect">
            <a:avLst/>
          </a:prstGeom>
          <a:solidFill>
            <a:srgbClr val="EFF5F8"/>
          </a:solidFill>
          <a:ln w="0">
            <a:noFill/>
          </a:ln>
        </p:spPr>
      </p:sp>
      <p:sp>
        <p:nvSpPr>
          <p:cNvPr id="13" name="">
            <a:extLst>
              <a:ext uri="{FF2B5EF4-FFF2-40B4-BE49-F238E27FC236}">
                <ns2:creationId id="{38A9EA23-1C82-4B29-AC98-BAB2F4C3C1F3}"/>
              </a:ext>
            </a:extLst>
          </p:cNvPr>
          <p:cNvSpPr>
            <a:spLocks noGrp="1"/>
          </p:cNvSpPr>
          <p:nvPr/>
        </p:nvSpPr>
        <p:spPr>
          <a:xfrm>
            <a:off x="790575" y="5391150"/>
            <a:ext cx="10610850" cy="581025"/>
          </a:xfrm>
          <a:prstGeom prst="rect">
            <a:avLst/>
          </a:prstGeom>
          <a:noFill/>
          <a:ln w="0">
            <a:noFill/>
          </a:ln>
        </p:spPr>
        <p:txBody>
          <a:bodyPr>
            <a:noAutofit/>
          </a:bodyPr>
          <a:lstStyle/>
          <a:p>
            <a:pPr>
              <a:defRPr sz="1650" b="1">
                <a:solidFill>
                  <a:srgbClr val="172D40"/>
                </a:solidFill>
                <a:latin typeface="DejaVu Sans"/>
                <a:ea typeface="DejaVu Sans"/>
                <a:cs typeface="DejaVu Sans"/>
              </a:defRPr>
            </a:pPr>
            <a:r>
              <a:rPr sz="1650" b="1">
                <a:solidFill>
                  <a:srgbClr val="172D40"/>
                </a:solidFill>
                <a:latin typeface="DejaVu Sans"/>
                <a:ea typeface="DejaVu Sans"/>
                <a:cs typeface="DejaVu Sans"/>
              </a:rPr>
              <a:t>52.1% of checked strict positives show growth under an immediate-month comparison.</a:t>
            </a:r>
          </a:p>
          <a:p>
            <a:pPr>
              <a:defRPr sz="1650" b="1">
                <a:solidFill>
                  <a:srgbClr val="172D40"/>
                </a:solidFill>
                <a:latin typeface="DejaVu Sans"/>
                <a:ea typeface="DejaVu Sans"/>
                <a:cs typeface="DejaVu Sans"/>
              </a:defRPr>
            </a:pPr>
            <a:r>
              <a:rPr sz="1650" b="1">
                <a:solidFill>
                  <a:srgbClr val="172D40"/>
                </a:solidFill>
                <a:latin typeface="DejaVu Sans"/>
                <a:ea typeface="DejaVu Sans"/>
                <a:cs typeface="DejaVu Sans"/>
              </a:rPr>
              <a:t>The official outcome formula remains unresolved.</a:t>
            </a:r>
          </a:p>
        </p:txBody>
      </p:sp>
    </p:spTree>
    <p:extLst>
      <p:ext uri="{BB962C8B-B14F-4D97-AF65-F5344CB8AC3E}">
        <ns5:creationId val="261785678"/>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39" name="">
            <a:extLst>
              <a:ext uri="{FF2B5EF4-FFF2-40B4-BE49-F238E27FC236}">
                <ns2:creationId id="{11BE9CA2-8AED-4C80-9330-437AB224EFDA}"/>
              </a:ext>
            </a:extLst>
          </p:cNvPr>
          <p:cNvSpPr>
            <a:spLocks noGrp="1"/>
          </p:cNvSpPr>
          <p:nvPr/>
        </p:nvSpPr>
        <p:spPr>
          <a:xfrm>
            <a:off x="609600" y="200025"/>
            <a:ext cx="10287000" cy="228600"/>
          </a:xfrm>
          <a:prstGeom prst="rect">
            <a:avLst/>
          </a:prstGeom>
          <a:noFill/>
          <a:ln w="0">
            <a:noFill/>
          </a:ln>
        </p:spPr>
        <p:txBody>
          <a:bodyPr>
            <a:noAutofit/>
          </a:bodyPr>
          <a:lstStyle/>
          <a:p>
            <a:pPr>
              <a:defRPr sz="1050" b="1">
                <a:solidFill>
                  <a:srgbClr val="185F91"/>
                </a:solidFill>
                <a:latin typeface="DejaVu Sans"/>
                <a:ea typeface="DejaVu Sans"/>
                <a:cs typeface="DejaVu Sans"/>
              </a:defRPr>
            </a:pPr>
            <a:r>
              <a:rPr sz="1050" b="1">
                <a:solidFill>
                  <a:srgbClr val="185F91"/>
                </a:solidFill>
                <a:latin typeface="DejaVu Sans"/>
                <a:ea typeface="DejaVu Sans"/>
                <a:cs typeface="DejaVu Sans"/>
              </a:rPr>
              <a:t>WHAT WAS BUILT AND HOW IT WAS CHECKED</a:t>
            </a:r>
          </a:p>
        </p:txBody>
      </p:sp>
      <p:sp>
        <p:nvSpPr>
          <p:cNvPr id="2" name="">
            <a:extLst>
              <a:ext uri="{FF2B5EF4-FFF2-40B4-BE49-F238E27FC236}">
                <ns2:creationId id="{93167B1D-E1EA-477C-8D0B-C45289B671BF}"/>
              </a:ext>
            </a:extLst>
          </p:cNvPr>
          <p:cNvSpPr>
            <a:spLocks noGrp="1"/>
          </p:cNvSpPr>
          <p:nvPr/>
        </p:nvSpPr>
        <p:spPr>
          <a:xfrm>
            <a:off x="10915650" y="190500"/>
            <a:ext cx="666750" cy="266700"/>
          </a:xfrm>
          <a:prstGeom prst="rect">
            <a:avLst/>
          </a:prstGeom>
          <a:noFill/>
          <a:ln w="0">
            <a:noFill/>
          </a:ln>
        </p:spPr>
        <p:txBody>
          <a:bodyPr>
            <a:noAutofit/>
          </a:bodyPr>
          <a:lstStyle/>
          <a:p>
            <a:pPr>
              <a:defRPr sz="1200" b="1">
                <a:solidFill>
                  <a:srgbClr val="536774"/>
                </a:solidFill>
                <a:latin typeface="DejaVu Sans"/>
                <a:ea typeface="DejaVu Sans"/>
                <a:cs typeface="DejaVu Sans"/>
              </a:defRPr>
            </a:pPr>
            <a:r>
              <a:rPr sz="1200" b="1">
                <a:solidFill>
                  <a:srgbClr val="536774"/>
                </a:solidFill>
                <a:latin typeface="DejaVu Sans"/>
                <a:ea typeface="DejaVu Sans"/>
                <a:cs typeface="DejaVu Sans"/>
              </a:rPr>
              <a:t>03</a:t>
            </a:r>
          </a:p>
        </p:txBody>
      </p:sp>
      <p:sp>
        <p:nvSpPr>
          <p:cNvPr id="3" name="">
            <a:extLst>
              <a:ext uri="{FF2B5EF4-FFF2-40B4-BE49-F238E27FC236}">
                <ns2:creationId id="{809904B2-DB77-4C69-8EA0-0A0B4842AE43}"/>
              </a:ext>
            </a:extLst>
          </p:cNvPr>
          <p:cNvSpPr>
            <a:spLocks noGrp="1"/>
          </p:cNvSpPr>
          <p:nvPr/>
        </p:nvSpPr>
        <p:spPr>
          <a:xfrm>
            <a:off x="609600" y="590550"/>
            <a:ext cx="10972800" cy="990600"/>
          </a:xfrm>
          <a:prstGeom prst="rect">
            <a:avLst/>
          </a:prstGeom>
          <a:noFill/>
          <a:ln w="0">
            <a:noFill/>
          </a:ln>
        </p:spPr>
        <p:txBody>
          <a:bodyPr>
            <a:noAutofit/>
          </a:bodyPr>
          <a:lstStyle/>
          <a:p>
            <a:pPr>
              <a:defRPr sz="2850" b="1">
                <a:solidFill>
                  <a:srgbClr val="172D40"/>
                </a:solidFill>
                <a:latin typeface="DejaVu Sans"/>
                <a:ea typeface="DejaVu Sans"/>
                <a:cs typeface="DejaVu Sans"/>
              </a:defRPr>
            </a:pPr>
            <a:r>
              <a:rPr sz="2850" b="1">
                <a:solidFill>
                  <a:srgbClr val="172D40"/>
                </a:solidFill>
                <a:latin typeface="DejaVu Sans"/>
                <a:ea typeface="DejaVu Sans"/>
                <a:cs typeface="DejaVu Sans"/>
              </a:rPr>
              <a:t>A fixed recipe, evaluated forward in time</a:t>
            </a:r>
          </a:p>
        </p:txBody>
      </p:sp>
      <p:sp>
        <p:nvSpPr>
          <p:cNvPr id="4" name="">
            <a:extLst>
              <a:ext uri="{FF2B5EF4-FFF2-40B4-BE49-F238E27FC236}">
                <ns2:creationId id="{8A251747-1C4C-47F9-874A-DD320D3E61D2}"/>
              </a:ext>
            </a:extLst>
          </p:cNvPr>
          <p:cNvSpPr>
            <a:spLocks noGrp="1"/>
          </p:cNvSpPr>
          <p:nvPr/>
        </p:nvSpPr>
        <p:spPr>
          <a:xfrm>
            <a:off x="609600" y="6191250"/>
            <a:ext cx="10972800" cy="0"/>
          </a:xfrm>
          <a:prstGeom prst="line">
            <a:avLst/>
          </a:prstGeom>
          <a:noFill/>
          <a:ln w="9525">
            <a:solidFill>
              <a:srgbClr val="DCE5EB"/>
            </a:solidFill>
            <a:prstDash val="solid"/>
          </a:ln>
        </p:spPr>
      </p:sp>
      <p:sp>
        <p:nvSpPr>
          <p:cNvPr id="5" name="">
            <a:extLst>
              <a:ext uri="{FF2B5EF4-FFF2-40B4-BE49-F238E27FC236}">
                <ns2:creationId id="{325B2247-8CCA-41DF-83A7-8DBA6C272267}"/>
              </a:ext>
            </a:extLst>
          </p:cNvPr>
          <p:cNvSpPr>
            <a:spLocks noGrp="1"/>
          </p:cNvSpPr>
          <p:nvPr/>
        </p:nvSpPr>
        <p:spPr>
          <a:xfrm>
            <a:off x="609600" y="6334125"/>
            <a:ext cx="10972800" cy="323850"/>
          </a:xfrm>
          <a:prstGeom prst="rect">
            <a:avLst/>
          </a:prstGeom>
          <a:noFill/>
          <a:ln w="0">
            <a:noFill/>
          </a:ln>
        </p:spPr>
        <p:txBody>
          <a:bodyPr>
            <a:noAutofit/>
          </a:bodyPr>
          <a:lstStyle/>
          <a:p>
            <a:pPr>
              <a:defRPr sz="900" b="0">
                <a:solidFill>
                  <a:srgbClr val="536774"/>
                </a:solidFill>
                <a:latin typeface="DejaVu Sans"/>
                <a:ea typeface="DejaVu Sans"/>
                <a:cs typeface="DejaVu Sans"/>
              </a:defRPr>
            </a:pPr>
            <a:r>
              <a:rPr sz="900" b="0">
                <a:solidFill>
                  <a:srgbClr val="536774"/>
                </a:solidFill>
                <a:latin typeface="DejaVu Sans"/>
                <a:ea typeface="DejaVu Sans"/>
                <a:cs typeface="DejaVu Sans"/>
              </a:rPr>
              <a:t>Logistic regression · L2, C = 0.1 · Fitting-only standardisation and encoding · Historical evidence is exploratory</a:t>
            </a:r>
          </a:p>
        </p:txBody>
      </p:sp>
      <p:sp>
        <p:nvSpPr>
          <p:cNvPr id="6" name="">
            <a:extLst>
              <a:ext uri="{FF2B5EF4-FFF2-40B4-BE49-F238E27FC236}">
                <ns2:creationId id="{4D3DBD09-3238-4EFA-B014-81927E4FACAE}"/>
              </a:ext>
            </a:extLst>
          </p:cNvPr>
          <p:cNvSpPr>
            <a:spLocks noGrp="1"/>
          </p:cNvSpPr>
          <p:nvPr/>
        </p:nvSpPr>
        <p:spPr>
          <a:xfrm>
            <a:off x="2314575" y="1600200"/>
            <a:ext cx="2543175" cy="285750"/>
          </a:xfrm>
          <a:prstGeom prst="rect">
            <a:avLst/>
          </a:prstGeom>
          <a:noFill/>
          <a:ln w="0">
            <a:noFill/>
          </a:ln>
        </p:spPr>
        <p:txBody>
          <a:bodyPr>
            <a:noAutofit/>
          </a:bodyPr>
          <a:lstStyle/>
          <a:p>
            <a:pPr>
              <a:defRPr sz="1200" b="1">
                <a:solidFill>
                  <a:srgbClr val="536774"/>
                </a:solidFill>
                <a:latin typeface="DejaVu Sans"/>
                <a:ea typeface="DejaVu Sans"/>
                <a:cs typeface="DejaVu Sans"/>
              </a:defRPr>
            </a:pPr>
            <a:r>
              <a:rPr sz="1200" b="1">
                <a:solidFill>
                  <a:srgbClr val="536774"/>
                </a:solidFill>
                <a:latin typeface="DejaVu Sans"/>
                <a:ea typeface="DejaVu Sans"/>
                <a:cs typeface="DejaVu Sans"/>
              </a:rPr>
              <a:t>FIT THROUGH</a:t>
            </a:r>
          </a:p>
        </p:txBody>
      </p:sp>
      <p:sp>
        <p:nvSpPr>
          <p:cNvPr id="7" name="">
            <a:extLst>
              <a:ext uri="{FF2B5EF4-FFF2-40B4-BE49-F238E27FC236}">
                <ns2:creationId id="{38D6AAA5-9422-4360-9002-F4724E97EC9F}"/>
              </a:ext>
            </a:extLst>
          </p:cNvPr>
          <p:cNvSpPr>
            <a:spLocks noGrp="1"/>
          </p:cNvSpPr>
          <p:nvPr/>
        </p:nvSpPr>
        <p:spPr>
          <a:xfrm>
            <a:off x="5219700" y="1600200"/>
            <a:ext cx="2228850" cy="285750"/>
          </a:xfrm>
          <a:prstGeom prst="rect">
            <a:avLst/>
          </a:prstGeom>
          <a:noFill/>
          <a:ln w="0">
            <a:noFill/>
          </a:ln>
        </p:spPr>
        <p:txBody>
          <a:bodyPr>
            <a:noAutofit/>
          </a:bodyPr>
          <a:lstStyle/>
          <a:p>
            <a:pPr>
              <a:defRPr sz="1200" b="1">
                <a:solidFill>
                  <a:srgbClr val="536774"/>
                </a:solidFill>
                <a:latin typeface="DejaVu Sans"/>
                <a:ea typeface="DejaVu Sans"/>
                <a:cs typeface="DejaVu Sans"/>
              </a:defRPr>
            </a:pPr>
            <a:r>
              <a:rPr sz="1200" b="1">
                <a:solidFill>
                  <a:srgbClr val="536774"/>
                </a:solidFill>
                <a:latin typeface="DejaVu Sans"/>
                <a:ea typeface="DejaVu Sans"/>
                <a:cs typeface="DejaVu Sans"/>
              </a:rPr>
              <a:t>LABEL GAP</a:t>
            </a:r>
          </a:p>
        </p:txBody>
      </p:sp>
      <p:sp>
        <p:nvSpPr>
          <p:cNvPr id="8" name="">
            <a:extLst>
              <a:ext uri="{FF2B5EF4-FFF2-40B4-BE49-F238E27FC236}">
                <ns2:creationId id="{7883FAA3-9825-452B-8827-A8AEB6C16862}"/>
              </a:ext>
            </a:extLst>
          </p:cNvPr>
          <p:cNvSpPr>
            <a:spLocks noGrp="1"/>
          </p:cNvSpPr>
          <p:nvPr/>
        </p:nvSpPr>
        <p:spPr>
          <a:xfrm>
            <a:off x="8153400" y="1600200"/>
            <a:ext cx="3181350" cy="285750"/>
          </a:xfrm>
          <a:prstGeom prst="rect">
            <a:avLst/>
          </a:prstGeom>
          <a:noFill/>
          <a:ln w="0">
            <a:noFill/>
          </a:ln>
        </p:spPr>
        <p:txBody>
          <a:bodyPr>
            <a:noAutofit/>
          </a:bodyPr>
          <a:lstStyle/>
          <a:p>
            <a:pPr>
              <a:defRPr sz="1200" b="1">
                <a:solidFill>
                  <a:srgbClr val="536774"/>
                </a:solidFill>
                <a:latin typeface="DejaVu Sans"/>
                <a:ea typeface="DejaVu Sans"/>
                <a:cs typeface="DejaVu Sans"/>
              </a:defRPr>
            </a:pPr>
            <a:r>
              <a:rPr sz="1200" b="1">
                <a:solidFill>
                  <a:srgbClr val="536774"/>
                </a:solidFill>
                <a:latin typeface="DejaVu Sans"/>
                <a:ea typeface="DejaVu Sans"/>
                <a:cs typeface="DejaVu Sans"/>
              </a:rPr>
              <a:t>EVALUATE / SCORE</a:t>
            </a:r>
          </a:p>
        </p:txBody>
      </p:sp>
      <p:sp>
        <p:nvSpPr>
          <p:cNvPr id="9" name="">
            <a:extLst>
              <a:ext uri="{FF2B5EF4-FFF2-40B4-BE49-F238E27FC236}">
                <ns2:creationId id="{79563634-FB4A-4DE7-8B86-2E4523797D3E}"/>
              </a:ext>
            </a:extLst>
          </p:cNvPr>
          <p:cNvSpPr>
            <a:spLocks noGrp="1"/>
          </p:cNvSpPr>
          <p:nvPr/>
        </p:nvSpPr>
        <p:spPr>
          <a:xfrm>
            <a:off x="609600" y="2076450"/>
            <a:ext cx="1704975" cy="342900"/>
          </a:xfrm>
          <a:prstGeom prst="rect">
            <a:avLst/>
          </a:prstGeom>
          <a:noFill/>
          <a:ln w="0">
            <a:noFill/>
          </a:ln>
        </p:spPr>
        <p:txBody>
          <a:bodyPr>
            <a:noAutofit/>
          </a:bodyPr>
          <a:lstStyle/>
          <a:p>
            <a:pPr>
              <a:defRPr sz="1500" b="1">
                <a:solidFill>
                  <a:srgbClr val="172D40"/>
                </a:solidFill>
                <a:latin typeface="DejaVu Sans"/>
                <a:ea typeface="DejaVu Sans"/>
                <a:cs typeface="DejaVu Sans"/>
              </a:defRPr>
            </a:pPr>
            <a:r>
              <a:rPr sz="1500" b="1">
                <a:solidFill>
                  <a:srgbClr val="172D40"/>
                </a:solidFill>
                <a:latin typeface="DejaVu Sans"/>
                <a:ea typeface="DejaVu Sans"/>
                <a:cs typeface="DejaVu Sans"/>
              </a:rPr>
              <a:t>Development</a:t>
            </a:r>
          </a:p>
        </p:txBody>
      </p:sp>
      <p:sp>
        <p:nvSpPr>
          <p:cNvPr id="10" name="">
            <a:extLst>
              <a:ext uri="{FF2B5EF4-FFF2-40B4-BE49-F238E27FC236}">
                <ns2:creationId id="{C9C2BEAB-481C-45A8-B337-0F8DC01A11AF}"/>
              </a:ext>
            </a:extLst>
          </p:cNvPr>
          <p:cNvSpPr>
            <a:spLocks noGrp="1"/>
          </p:cNvSpPr>
          <p:nvPr/>
        </p:nvSpPr>
        <p:spPr>
          <a:xfrm>
            <a:off x="2314575" y="2009775"/>
            <a:ext cx="2238375" cy="419100"/>
          </a:xfrm>
          <a:prstGeom prst="rect">
            <a:avLst/>
          </a:prstGeom>
          <a:solidFill>
            <a:srgbClr val="EFF5F8"/>
          </a:solidFill>
          <a:ln w="0">
            <a:noFill/>
          </a:ln>
        </p:spPr>
      </p:sp>
      <p:sp>
        <p:nvSpPr>
          <p:cNvPr id="11" name="">
            <a:extLst>
              <a:ext uri="{FF2B5EF4-FFF2-40B4-BE49-F238E27FC236}">
                <ns2:creationId id="{E991C277-9535-4C14-A632-E0F51F3A7785}"/>
              </a:ext>
            </a:extLst>
          </p:cNvPr>
          <p:cNvSpPr>
            <a:spLocks noGrp="1"/>
          </p:cNvSpPr>
          <p:nvPr/>
        </p:nvSpPr>
        <p:spPr>
          <a:xfrm>
            <a:off x="2486025" y="2057400"/>
            <a:ext cx="2066925" cy="333375"/>
          </a:xfrm>
          <a:prstGeom prst="rect">
            <a:avLst/>
          </a:prstGeom>
          <a:noFill/>
          <a:ln w="0">
            <a:noFill/>
          </a:ln>
        </p:spPr>
        <p:txBody>
          <a:bodyPr>
            <a:noAutofit/>
          </a:bodyPr>
          <a:lstStyle/>
          <a:p>
            <a:pPr>
              <a:defRPr sz="1650" b="0">
                <a:solidFill>
                  <a:srgbClr val="172D40"/>
                </a:solidFill>
                <a:latin typeface="DejaVu Sans"/>
                <a:ea typeface="DejaVu Sans"/>
                <a:cs typeface="DejaVu Sans"/>
              </a:defRPr>
            </a:pPr>
            <a:r>
              <a:rPr sz="1650" b="0">
                <a:solidFill>
                  <a:srgbClr val="172D40"/>
                </a:solidFill>
                <a:latin typeface="DejaVu Sans"/>
                <a:ea typeface="DejaVu Sans"/>
                <a:cs typeface="DejaVu Sans"/>
              </a:rPr>
              <a:t>May 2025</a:t>
            </a:r>
          </a:p>
        </p:txBody>
      </p:sp>
      <p:sp>
        <p:nvSpPr>
          <p:cNvPr id="12" name="">
            <a:extLst>
              <a:ext uri="{FF2B5EF4-FFF2-40B4-BE49-F238E27FC236}">
                <ns2:creationId id="{66AA81CF-BF01-4B8A-BB16-898E245DD2D2}"/>
              </a:ext>
            </a:extLst>
          </p:cNvPr>
          <p:cNvSpPr>
            <a:spLocks noGrp="1"/>
          </p:cNvSpPr>
          <p:nvPr/>
        </p:nvSpPr>
        <p:spPr>
          <a:xfrm>
            <a:off x="4638675" y="2219325"/>
            <a:ext cx="438150" cy="0"/>
          </a:xfrm>
          <a:prstGeom prst="line">
            <a:avLst/>
          </a:prstGeom>
          <a:noFill/>
          <a:ln w="14288">
            <a:solidFill>
              <a:srgbClr val="81909C"/>
            </a:solidFill>
            <a:prstDash val="solid"/>
          </a:ln>
        </p:spPr>
      </p:sp>
      <p:sp>
        <p:nvSpPr>
          <p:cNvPr id="13" name="">
            <a:extLst>
              <a:ext uri="{FF2B5EF4-FFF2-40B4-BE49-F238E27FC236}">
                <ns2:creationId id="{367DFFFE-27E0-4D99-9C07-E082351B4C2F}"/>
              </a:ext>
            </a:extLst>
          </p:cNvPr>
          <p:cNvSpPr>
            <a:spLocks noGrp="1"/>
          </p:cNvSpPr>
          <p:nvPr/>
        </p:nvSpPr>
        <p:spPr>
          <a:xfrm>
            <a:off x="5276850" y="2066925"/>
            <a:ext cx="2124075" cy="323850"/>
          </a:xfrm>
          <a:prstGeom prst="rect">
            <a:avLst/>
          </a:prstGeom>
          <a:noFill/>
          <a:ln w="0">
            <a:noFill/>
          </a:ln>
        </p:spPr>
        <p:txBody>
          <a:bodyPr>
            <a:noAutofit/>
          </a:bodyPr>
          <a:lstStyle/>
          <a:p>
            <a:pPr>
              <a:defRPr sz="1650" b="0">
                <a:solidFill>
                  <a:srgbClr val="536774"/>
                </a:solidFill>
                <a:latin typeface="DejaVu Sans"/>
                <a:ea typeface="DejaVu Sans"/>
                <a:cs typeface="DejaVu Sans"/>
              </a:defRPr>
            </a:pPr>
            <a:r>
              <a:rPr sz="1650" b="0">
                <a:solidFill>
                  <a:srgbClr val="536774"/>
                </a:solidFill>
                <a:latin typeface="DejaVu Sans"/>
                <a:ea typeface="DejaVu Sans"/>
                <a:cs typeface="DejaVu Sans"/>
              </a:rPr>
              <a:t>Jun 2025</a:t>
            </a:r>
          </a:p>
        </p:txBody>
      </p:sp>
      <p:sp>
        <p:nvSpPr>
          <p:cNvPr id="14" name="">
            <a:extLst>
              <a:ext uri="{FF2B5EF4-FFF2-40B4-BE49-F238E27FC236}">
                <ns2:creationId id="{2EEFD935-8685-413B-8772-7465C9D87FDC}"/>
              </a:ext>
            </a:extLst>
          </p:cNvPr>
          <p:cNvSpPr>
            <a:spLocks noGrp="1"/>
          </p:cNvSpPr>
          <p:nvPr/>
        </p:nvSpPr>
        <p:spPr>
          <a:xfrm>
            <a:off x="7505700" y="2219325"/>
            <a:ext cx="438150" cy="0"/>
          </a:xfrm>
          <a:prstGeom prst="line">
            <a:avLst/>
          </a:prstGeom>
          <a:noFill/>
          <a:ln w="14288">
            <a:solidFill>
              <a:srgbClr val="81909C"/>
            </a:solidFill>
            <a:prstDash val="solid"/>
          </a:ln>
        </p:spPr>
      </p:sp>
      <p:sp>
        <p:nvSpPr>
          <p:cNvPr id="15" name="">
            <a:extLst>
              <a:ext uri="{FF2B5EF4-FFF2-40B4-BE49-F238E27FC236}">
                <ns2:creationId id="{C5169B02-E788-4CCA-9FE7-F0AD09B1EC1B}"/>
              </a:ext>
            </a:extLst>
          </p:cNvPr>
          <p:cNvSpPr>
            <a:spLocks noGrp="1"/>
          </p:cNvSpPr>
          <p:nvPr/>
        </p:nvSpPr>
        <p:spPr>
          <a:xfrm>
            <a:off x="8153400" y="2009775"/>
            <a:ext cx="3429000" cy="419100"/>
          </a:xfrm>
          <a:prstGeom prst="rect">
            <a:avLst/>
          </a:prstGeom>
          <a:solidFill>
            <a:srgbClr val="EFF5F8"/>
          </a:solidFill>
          <a:ln w="0">
            <a:noFill/>
          </a:ln>
        </p:spPr>
      </p:sp>
      <p:sp>
        <p:nvSpPr>
          <p:cNvPr id="16" name="">
            <a:extLst>
              <a:ext uri="{FF2B5EF4-FFF2-40B4-BE49-F238E27FC236}">
                <ns2:creationId id="{B57CEA6E-81DA-4556-943A-307ADC8B6CCB}"/>
              </a:ext>
            </a:extLst>
          </p:cNvPr>
          <p:cNvSpPr>
            <a:spLocks noGrp="1"/>
          </p:cNvSpPr>
          <p:nvPr/>
        </p:nvSpPr>
        <p:spPr>
          <a:xfrm>
            <a:off x="8334375" y="2057400"/>
            <a:ext cx="3162300" cy="342900"/>
          </a:xfrm>
          <a:prstGeom prst="rect">
            <a:avLst/>
          </a:prstGeom>
          <a:noFill/>
          <a:ln w="0">
            <a:noFill/>
          </a:ln>
        </p:spPr>
        <p:txBody>
          <a:bodyPr>
            <a:noAutofit/>
          </a:bodyPr>
          <a:lstStyle/>
          <a:p>
            <a:pPr>
              <a:defRPr sz="1650" b="1">
                <a:solidFill>
                  <a:srgbClr val="185F91"/>
                </a:solidFill>
                <a:latin typeface="DejaVu Sans"/>
                <a:ea typeface="DejaVu Sans"/>
                <a:cs typeface="DejaVu Sans"/>
              </a:defRPr>
            </a:pPr>
            <a:r>
              <a:rPr sz="1650" b="1">
                <a:solidFill>
                  <a:srgbClr val="185F91"/>
                </a:solidFill>
                <a:latin typeface="DejaVu Sans"/>
                <a:ea typeface="DejaVu Sans"/>
                <a:cs typeface="DejaVu Sans"/>
              </a:rPr>
              <a:t>Jul–Sep 2025</a:t>
            </a:r>
          </a:p>
        </p:txBody>
      </p:sp>
      <p:sp>
        <p:nvSpPr>
          <p:cNvPr id="17" name="">
            <a:extLst>
              <a:ext uri="{FF2B5EF4-FFF2-40B4-BE49-F238E27FC236}">
                <ns2:creationId id="{750E1E08-7164-44F6-AA5A-7C9CE02A973A}"/>
              </a:ext>
            </a:extLst>
          </p:cNvPr>
          <p:cNvSpPr>
            <a:spLocks noGrp="1"/>
          </p:cNvSpPr>
          <p:nvPr/>
        </p:nvSpPr>
        <p:spPr>
          <a:xfrm>
            <a:off x="609600" y="2609850"/>
            <a:ext cx="1704975" cy="342900"/>
          </a:xfrm>
          <a:prstGeom prst="rect">
            <a:avLst/>
          </a:prstGeom>
          <a:noFill/>
          <a:ln w="0">
            <a:noFill/>
          </a:ln>
        </p:spPr>
        <p:txBody>
          <a:bodyPr>
            <a:noAutofit/>
          </a:bodyPr>
          <a:lstStyle/>
          <a:p>
            <a:pPr>
              <a:defRPr sz="1500" b="1">
                <a:solidFill>
                  <a:srgbClr val="172D40"/>
                </a:solidFill>
                <a:latin typeface="DejaVu Sans"/>
                <a:ea typeface="DejaVu Sans"/>
                <a:cs typeface="DejaVu Sans"/>
              </a:defRPr>
            </a:pPr>
            <a:r>
              <a:rPr sz="1500" b="1">
                <a:solidFill>
                  <a:srgbClr val="172D40"/>
                </a:solidFill>
                <a:latin typeface="DejaVu Sans"/>
                <a:ea typeface="DejaVu Sans"/>
                <a:cs typeface="DejaVu Sans"/>
              </a:rPr>
              <a:t>Later check</a:t>
            </a:r>
          </a:p>
        </p:txBody>
      </p:sp>
      <p:sp>
        <p:nvSpPr>
          <p:cNvPr id="18" name="">
            <a:extLst>
              <a:ext uri="{FF2B5EF4-FFF2-40B4-BE49-F238E27FC236}">
                <ns2:creationId id="{46656DB1-3867-4DE1-AA15-443CAFA6517E}"/>
              </a:ext>
            </a:extLst>
          </p:cNvPr>
          <p:cNvSpPr>
            <a:spLocks noGrp="1"/>
          </p:cNvSpPr>
          <p:nvPr/>
        </p:nvSpPr>
        <p:spPr>
          <a:xfrm>
            <a:off x="2314575" y="2543175"/>
            <a:ext cx="2238375" cy="419100"/>
          </a:xfrm>
          <a:prstGeom prst="rect">
            <a:avLst/>
          </a:prstGeom>
          <a:solidFill>
            <a:srgbClr val="EFF5F8"/>
          </a:solidFill>
          <a:ln w="0">
            <a:noFill/>
          </a:ln>
        </p:spPr>
      </p:sp>
      <p:sp>
        <p:nvSpPr>
          <p:cNvPr id="19" name="">
            <a:extLst>
              <a:ext uri="{FF2B5EF4-FFF2-40B4-BE49-F238E27FC236}">
                <ns2:creationId id="{D7E0F499-1100-4D26-9EA2-9011CE180BD9}"/>
              </a:ext>
            </a:extLst>
          </p:cNvPr>
          <p:cNvSpPr>
            <a:spLocks noGrp="1"/>
          </p:cNvSpPr>
          <p:nvPr/>
        </p:nvSpPr>
        <p:spPr>
          <a:xfrm>
            <a:off x="2486025" y="2590800"/>
            <a:ext cx="2066925" cy="333375"/>
          </a:xfrm>
          <a:prstGeom prst="rect">
            <a:avLst/>
          </a:prstGeom>
          <a:noFill/>
          <a:ln w="0">
            <a:noFill/>
          </a:ln>
        </p:spPr>
        <p:txBody>
          <a:bodyPr>
            <a:noAutofit/>
          </a:bodyPr>
          <a:lstStyle/>
          <a:p>
            <a:pPr>
              <a:defRPr sz="1650" b="0">
                <a:solidFill>
                  <a:srgbClr val="172D40"/>
                </a:solidFill>
                <a:latin typeface="DejaVu Sans"/>
                <a:ea typeface="DejaVu Sans"/>
                <a:cs typeface="DejaVu Sans"/>
              </a:defRPr>
            </a:pPr>
            <a:r>
              <a:rPr sz="1650" b="0">
                <a:solidFill>
                  <a:srgbClr val="172D40"/>
                </a:solidFill>
                <a:latin typeface="DejaVu Sans"/>
                <a:ea typeface="DejaVu Sans"/>
                <a:cs typeface="DejaVu Sans"/>
              </a:rPr>
              <a:t>Aug 2025</a:t>
            </a:r>
          </a:p>
        </p:txBody>
      </p:sp>
      <p:sp>
        <p:nvSpPr>
          <p:cNvPr id="20" name="">
            <a:extLst>
              <a:ext uri="{FF2B5EF4-FFF2-40B4-BE49-F238E27FC236}">
                <ns2:creationId id="{D2FC1D2C-722B-49A9-A13D-83938E2D0EB7}"/>
              </a:ext>
            </a:extLst>
          </p:cNvPr>
          <p:cNvSpPr>
            <a:spLocks noGrp="1"/>
          </p:cNvSpPr>
          <p:nvPr/>
        </p:nvSpPr>
        <p:spPr>
          <a:xfrm>
            <a:off x="4638675" y="2752725"/>
            <a:ext cx="438150" cy="0"/>
          </a:xfrm>
          <a:prstGeom prst="line">
            <a:avLst/>
          </a:prstGeom>
          <a:noFill/>
          <a:ln w="14288">
            <a:solidFill>
              <a:srgbClr val="81909C"/>
            </a:solidFill>
            <a:prstDash val="solid"/>
          </a:ln>
        </p:spPr>
      </p:sp>
      <p:sp>
        <p:nvSpPr>
          <p:cNvPr id="21" name="">
            <a:extLst>
              <a:ext uri="{FF2B5EF4-FFF2-40B4-BE49-F238E27FC236}">
                <ns2:creationId id="{3F001D39-8E9B-491A-B103-88052EB89F18}"/>
              </a:ext>
            </a:extLst>
          </p:cNvPr>
          <p:cNvSpPr>
            <a:spLocks noGrp="1"/>
          </p:cNvSpPr>
          <p:nvPr/>
        </p:nvSpPr>
        <p:spPr>
          <a:xfrm>
            <a:off x="5276850" y="2600325"/>
            <a:ext cx="2124075" cy="323850"/>
          </a:xfrm>
          <a:prstGeom prst="rect">
            <a:avLst/>
          </a:prstGeom>
          <a:noFill/>
          <a:ln w="0">
            <a:noFill/>
          </a:ln>
        </p:spPr>
        <p:txBody>
          <a:bodyPr>
            <a:noAutofit/>
          </a:bodyPr>
          <a:lstStyle/>
          <a:p>
            <a:pPr>
              <a:defRPr sz="1650" b="0">
                <a:solidFill>
                  <a:srgbClr val="536774"/>
                </a:solidFill>
                <a:latin typeface="DejaVu Sans"/>
                <a:ea typeface="DejaVu Sans"/>
                <a:cs typeface="DejaVu Sans"/>
              </a:defRPr>
            </a:pPr>
            <a:r>
              <a:rPr sz="1650" b="0">
                <a:solidFill>
                  <a:srgbClr val="536774"/>
                </a:solidFill>
                <a:latin typeface="DejaVu Sans"/>
                <a:ea typeface="DejaVu Sans"/>
                <a:cs typeface="DejaVu Sans"/>
              </a:rPr>
              <a:t>Sep 2025</a:t>
            </a:r>
          </a:p>
        </p:txBody>
      </p:sp>
      <p:sp>
        <p:nvSpPr>
          <p:cNvPr id="22" name="">
            <a:extLst>
              <a:ext uri="{FF2B5EF4-FFF2-40B4-BE49-F238E27FC236}">
                <ns2:creationId id="{6F2E5F92-6FDB-430F-9E15-E3BF681B808B}"/>
              </a:ext>
            </a:extLst>
          </p:cNvPr>
          <p:cNvSpPr>
            <a:spLocks noGrp="1"/>
          </p:cNvSpPr>
          <p:nvPr/>
        </p:nvSpPr>
        <p:spPr>
          <a:xfrm>
            <a:off x="7505700" y="2752725"/>
            <a:ext cx="438150" cy="0"/>
          </a:xfrm>
          <a:prstGeom prst="line">
            <a:avLst/>
          </a:prstGeom>
          <a:noFill/>
          <a:ln w="14288">
            <a:solidFill>
              <a:srgbClr val="81909C"/>
            </a:solidFill>
            <a:prstDash val="solid"/>
          </a:ln>
        </p:spPr>
      </p:sp>
      <p:sp>
        <p:nvSpPr>
          <p:cNvPr id="23" name="">
            <a:extLst>
              <a:ext uri="{FF2B5EF4-FFF2-40B4-BE49-F238E27FC236}">
                <ns2:creationId id="{EAFB589B-68CE-4275-8057-5F139EE3E7B2}"/>
              </a:ext>
            </a:extLst>
          </p:cNvPr>
          <p:cNvSpPr>
            <a:spLocks noGrp="1"/>
          </p:cNvSpPr>
          <p:nvPr/>
        </p:nvSpPr>
        <p:spPr>
          <a:xfrm>
            <a:off x="8153400" y="2543175"/>
            <a:ext cx="3429000" cy="419100"/>
          </a:xfrm>
          <a:prstGeom prst="rect">
            <a:avLst/>
          </a:prstGeom>
          <a:solidFill>
            <a:srgbClr val="EFF5F8"/>
          </a:solidFill>
          <a:ln w="0">
            <a:noFill/>
          </a:ln>
        </p:spPr>
      </p:sp>
      <p:sp>
        <p:nvSpPr>
          <p:cNvPr id="24" name="">
            <a:extLst>
              <a:ext uri="{FF2B5EF4-FFF2-40B4-BE49-F238E27FC236}">
                <ns2:creationId id="{41826054-8BE2-41BB-A144-C3C35B01AB14}"/>
              </a:ext>
            </a:extLst>
          </p:cNvPr>
          <p:cNvSpPr>
            <a:spLocks noGrp="1"/>
          </p:cNvSpPr>
          <p:nvPr/>
        </p:nvSpPr>
        <p:spPr>
          <a:xfrm>
            <a:off x="8334375" y="2590800"/>
            <a:ext cx="3162300" cy="342900"/>
          </a:xfrm>
          <a:prstGeom prst="rect">
            <a:avLst/>
          </a:prstGeom>
          <a:noFill/>
          <a:ln w="0">
            <a:noFill/>
          </a:ln>
        </p:spPr>
        <p:txBody>
          <a:bodyPr>
            <a:noAutofit/>
          </a:bodyPr>
          <a:lstStyle/>
          <a:p>
            <a:pPr>
              <a:defRPr sz="1650" b="1">
                <a:solidFill>
                  <a:srgbClr val="185F91"/>
                </a:solidFill>
                <a:latin typeface="DejaVu Sans"/>
                <a:ea typeface="DejaVu Sans"/>
                <a:cs typeface="DejaVu Sans"/>
              </a:defRPr>
            </a:pPr>
            <a:r>
              <a:rPr sz="1650" b="1">
                <a:solidFill>
                  <a:srgbClr val="185F91"/>
                </a:solidFill>
                <a:latin typeface="DejaVu Sans"/>
                <a:ea typeface="DejaVu Sans"/>
                <a:cs typeface="DejaVu Sans"/>
              </a:rPr>
              <a:t>Oct–Dec 2025</a:t>
            </a:r>
          </a:p>
        </p:txBody>
      </p:sp>
      <p:sp>
        <p:nvSpPr>
          <p:cNvPr id="25" name="">
            <a:extLst>
              <a:ext uri="{FF2B5EF4-FFF2-40B4-BE49-F238E27FC236}">
                <ns2:creationId id="{BC4E5DEB-5C26-4E14-ABB4-98591985F57F}"/>
              </a:ext>
            </a:extLst>
          </p:cNvPr>
          <p:cNvSpPr>
            <a:spLocks noGrp="1"/>
          </p:cNvSpPr>
          <p:nvPr/>
        </p:nvSpPr>
        <p:spPr>
          <a:xfrm>
            <a:off x="609600" y="3143250"/>
            <a:ext cx="1704975" cy="342900"/>
          </a:xfrm>
          <a:prstGeom prst="rect">
            <a:avLst/>
          </a:prstGeom>
          <a:noFill/>
          <a:ln w="0">
            <a:noFill/>
          </a:ln>
        </p:spPr>
        <p:txBody>
          <a:bodyPr>
            <a:noAutofit/>
          </a:bodyPr>
          <a:lstStyle/>
          <a:p>
            <a:pPr>
              <a:defRPr sz="1500" b="1">
                <a:solidFill>
                  <a:srgbClr val="172D40"/>
                </a:solidFill>
                <a:latin typeface="DejaVu Sans"/>
                <a:ea typeface="DejaVu Sans"/>
                <a:cs typeface="DejaVu Sans"/>
              </a:defRPr>
            </a:pPr>
            <a:r>
              <a:rPr sz="1500" b="1">
                <a:solidFill>
                  <a:srgbClr val="172D40"/>
                </a:solidFill>
                <a:latin typeface="DejaVu Sans"/>
                <a:ea typeface="DejaVu Sans"/>
                <a:cs typeface="DejaVu Sans"/>
              </a:rPr>
              <a:t>Final scoring</a:t>
            </a:r>
          </a:p>
        </p:txBody>
      </p:sp>
      <p:sp>
        <p:nvSpPr>
          <p:cNvPr id="26" name="">
            <a:extLst>
              <a:ext uri="{FF2B5EF4-FFF2-40B4-BE49-F238E27FC236}">
                <ns2:creationId id="{49E5DB07-B0D5-4E8A-BF89-6DFB756C8292}"/>
              </a:ext>
            </a:extLst>
          </p:cNvPr>
          <p:cNvSpPr>
            <a:spLocks noGrp="1"/>
          </p:cNvSpPr>
          <p:nvPr/>
        </p:nvSpPr>
        <p:spPr>
          <a:xfrm>
            <a:off x="2314575" y="3076575"/>
            <a:ext cx="2238375" cy="419100"/>
          </a:xfrm>
          <a:prstGeom prst="rect">
            <a:avLst/>
          </a:prstGeom>
          <a:solidFill>
            <a:srgbClr val="EFF5F8"/>
          </a:solidFill>
          <a:ln w="0">
            <a:noFill/>
          </a:ln>
        </p:spPr>
      </p:sp>
      <p:sp>
        <p:nvSpPr>
          <p:cNvPr id="27" name="">
            <a:extLst>
              <a:ext uri="{FF2B5EF4-FFF2-40B4-BE49-F238E27FC236}">
                <ns2:creationId id="{28CEE60B-4761-44F4-8C46-4258FCF0E266}"/>
              </a:ext>
            </a:extLst>
          </p:cNvPr>
          <p:cNvSpPr>
            <a:spLocks noGrp="1"/>
          </p:cNvSpPr>
          <p:nvPr/>
        </p:nvSpPr>
        <p:spPr>
          <a:xfrm>
            <a:off x="2486025" y="3124200"/>
            <a:ext cx="2066925" cy="333375"/>
          </a:xfrm>
          <a:prstGeom prst="rect">
            <a:avLst/>
          </a:prstGeom>
          <a:noFill/>
          <a:ln w="0">
            <a:noFill/>
          </a:ln>
        </p:spPr>
        <p:txBody>
          <a:bodyPr>
            <a:noAutofit/>
          </a:bodyPr>
          <a:lstStyle/>
          <a:p>
            <a:pPr>
              <a:defRPr sz="1650" b="0">
                <a:solidFill>
                  <a:srgbClr val="172D40"/>
                </a:solidFill>
                <a:latin typeface="DejaVu Sans"/>
                <a:ea typeface="DejaVu Sans"/>
                <a:cs typeface="DejaVu Sans"/>
              </a:defRPr>
            </a:pPr>
            <a:r>
              <a:rPr sz="1650" b="0">
                <a:solidFill>
                  <a:srgbClr val="172D40"/>
                </a:solidFill>
                <a:latin typeface="DejaVu Sans"/>
                <a:ea typeface="DejaVu Sans"/>
                <a:cs typeface="DejaVu Sans"/>
              </a:rPr>
              <a:t>Nov 2025</a:t>
            </a:r>
          </a:p>
        </p:txBody>
      </p:sp>
      <p:sp>
        <p:nvSpPr>
          <p:cNvPr id="28" name="">
            <a:extLst>
              <a:ext uri="{FF2B5EF4-FFF2-40B4-BE49-F238E27FC236}">
                <ns2:creationId id="{BCE8CE11-579E-472C-9298-C1D3B64A4332}"/>
              </a:ext>
            </a:extLst>
          </p:cNvPr>
          <p:cNvSpPr>
            <a:spLocks noGrp="1"/>
          </p:cNvSpPr>
          <p:nvPr/>
        </p:nvSpPr>
        <p:spPr>
          <a:xfrm>
            <a:off x="4638675" y="3286125"/>
            <a:ext cx="438150" cy="0"/>
          </a:xfrm>
          <a:prstGeom prst="line">
            <a:avLst/>
          </a:prstGeom>
          <a:noFill/>
          <a:ln w="14288">
            <a:solidFill>
              <a:srgbClr val="81909C"/>
            </a:solidFill>
            <a:prstDash val="solid"/>
          </a:ln>
        </p:spPr>
      </p:sp>
      <p:sp>
        <p:nvSpPr>
          <p:cNvPr id="29" name="">
            <a:extLst>
              <a:ext uri="{FF2B5EF4-FFF2-40B4-BE49-F238E27FC236}">
                <ns2:creationId id="{F58936ED-BA39-47F5-8599-73F90332F108}"/>
              </a:ext>
            </a:extLst>
          </p:cNvPr>
          <p:cNvSpPr>
            <a:spLocks noGrp="1"/>
          </p:cNvSpPr>
          <p:nvPr/>
        </p:nvSpPr>
        <p:spPr>
          <a:xfrm>
            <a:off x="5276850" y="3133725"/>
            <a:ext cx="2124075" cy="323850"/>
          </a:xfrm>
          <a:prstGeom prst="rect">
            <a:avLst/>
          </a:prstGeom>
          <a:noFill/>
          <a:ln w="0">
            <a:noFill/>
          </a:ln>
        </p:spPr>
        <p:txBody>
          <a:bodyPr>
            <a:noAutofit/>
          </a:bodyPr>
          <a:lstStyle/>
          <a:p>
            <a:pPr>
              <a:defRPr sz="1650" b="0">
                <a:solidFill>
                  <a:srgbClr val="536774"/>
                </a:solidFill>
                <a:latin typeface="DejaVu Sans"/>
                <a:ea typeface="DejaVu Sans"/>
                <a:cs typeface="DejaVu Sans"/>
              </a:defRPr>
            </a:pPr>
            <a:r>
              <a:rPr sz="1650" b="0">
                <a:solidFill>
                  <a:srgbClr val="536774"/>
                </a:solidFill>
                <a:latin typeface="DejaVu Sans"/>
                <a:ea typeface="DejaVu Sans"/>
                <a:cs typeface="DejaVu Sans"/>
              </a:rPr>
              <a:t>Dec 2025</a:t>
            </a:r>
          </a:p>
        </p:txBody>
      </p:sp>
      <p:sp>
        <p:nvSpPr>
          <p:cNvPr id="30" name="">
            <a:extLst>
              <a:ext uri="{FF2B5EF4-FFF2-40B4-BE49-F238E27FC236}">
                <ns2:creationId id="{844A7C82-CF83-4F98-8A26-28B431C8ECF5}"/>
              </a:ext>
            </a:extLst>
          </p:cNvPr>
          <p:cNvSpPr>
            <a:spLocks noGrp="1"/>
          </p:cNvSpPr>
          <p:nvPr/>
        </p:nvSpPr>
        <p:spPr>
          <a:xfrm>
            <a:off x="7505700" y="3286125"/>
            <a:ext cx="438150" cy="0"/>
          </a:xfrm>
          <a:prstGeom prst="line">
            <a:avLst/>
          </a:prstGeom>
          <a:noFill/>
          <a:ln w="14288">
            <a:solidFill>
              <a:srgbClr val="81909C"/>
            </a:solidFill>
            <a:prstDash val="solid"/>
          </a:ln>
        </p:spPr>
      </p:sp>
      <p:sp>
        <p:nvSpPr>
          <p:cNvPr id="31" name="">
            <a:extLst>
              <a:ext uri="{FF2B5EF4-FFF2-40B4-BE49-F238E27FC236}">
                <ns2:creationId id="{FCB4AF4F-DE93-45FC-AEB9-A3A3A83A3C6D}"/>
              </a:ext>
            </a:extLst>
          </p:cNvPr>
          <p:cNvSpPr>
            <a:spLocks noGrp="1"/>
          </p:cNvSpPr>
          <p:nvPr/>
        </p:nvSpPr>
        <p:spPr>
          <a:xfrm>
            <a:off x="8153400" y="3076575"/>
            <a:ext cx="3429000" cy="419100"/>
          </a:xfrm>
          <a:prstGeom prst="rect">
            <a:avLst/>
          </a:prstGeom>
          <a:solidFill>
            <a:srgbClr val="E5F1ED"/>
          </a:solidFill>
          <a:ln w="0">
            <a:noFill/>
          </a:ln>
        </p:spPr>
      </p:sp>
      <p:sp>
        <p:nvSpPr>
          <p:cNvPr id="32" name="">
            <a:extLst>
              <a:ext uri="{FF2B5EF4-FFF2-40B4-BE49-F238E27FC236}">
                <ns2:creationId id="{D80064D6-B4C9-471D-A5BA-405100A3F05E}"/>
              </a:ext>
            </a:extLst>
          </p:cNvPr>
          <p:cNvSpPr>
            <a:spLocks noGrp="1"/>
          </p:cNvSpPr>
          <p:nvPr/>
        </p:nvSpPr>
        <p:spPr>
          <a:xfrm>
            <a:off x="8334375" y="3124200"/>
            <a:ext cx="3162300" cy="342900"/>
          </a:xfrm>
          <a:prstGeom prst="rect">
            <a:avLst/>
          </a:prstGeom>
          <a:noFill/>
          <a:ln w="0">
            <a:noFill/>
          </a:ln>
        </p:spPr>
        <p:txBody>
          <a:bodyPr>
            <a:noAutofit/>
          </a:bodyPr>
          <a:lstStyle/>
          <a:p>
            <a:pPr>
              <a:defRPr sz="1650" b="1">
                <a:solidFill>
                  <a:srgbClr val="185F91"/>
                </a:solidFill>
                <a:latin typeface="DejaVu Sans"/>
                <a:ea typeface="DejaVu Sans"/>
                <a:cs typeface="DejaVu Sans"/>
              </a:defRPr>
            </a:pPr>
            <a:r>
              <a:rPr sz="1650" b="1">
                <a:solidFill>
                  <a:srgbClr val="185F91"/>
                </a:solidFill>
                <a:latin typeface="DejaVu Sans"/>
                <a:ea typeface="DejaVu Sans"/>
                <a:cs typeface="DejaVu Sans"/>
              </a:rPr>
              <a:t>Jan–Jun 2026</a:t>
            </a:r>
          </a:p>
        </p:txBody>
      </p:sp>
      <p:sp>
        <p:nvSpPr>
          <p:cNvPr id="33" name="">
            <a:extLst>
              <a:ext uri="{FF2B5EF4-FFF2-40B4-BE49-F238E27FC236}">
                <ns2:creationId id="{F096B711-8F11-47DE-A272-B56AFDF0DC92}"/>
              </a:ext>
            </a:extLst>
          </p:cNvPr>
          <p:cNvSpPr>
            <a:spLocks noGrp="1"/>
          </p:cNvSpPr>
          <p:nvPr/>
        </p:nvSpPr>
        <p:spPr>
          <a:xfrm>
            <a:off x="609600" y="3724275"/>
            <a:ext cx="10972800" cy="0"/>
          </a:xfrm>
          <a:prstGeom prst="line">
            <a:avLst/>
          </a:prstGeom>
          <a:noFill/>
          <a:ln w="9525">
            <a:solidFill>
              <a:srgbClr val="DCE5EB"/>
            </a:solidFill>
            <a:prstDash val="solid"/>
          </a:ln>
        </p:spPr>
      </p:sp>
      <p:sp>
        <p:nvSpPr>
          <p:cNvPr id="34" name="">
            <a:extLst>
              <a:ext uri="{FF2B5EF4-FFF2-40B4-BE49-F238E27FC236}">
                <ns2:creationId id="{A40059CF-7D52-471B-8D10-AD482EB112A8}"/>
              </a:ext>
            </a:extLst>
          </p:cNvPr>
          <p:cNvSpPr>
            <a:spLocks noGrp="1"/>
          </p:cNvSpPr>
          <p:nvPr/>
        </p:nvSpPr>
        <p:spPr>
          <a:xfrm>
            <a:off x="609600" y="3981450"/>
            <a:ext cx="4572000" cy="342900"/>
          </a:xfrm>
          <a:prstGeom prst="rect">
            <a:avLst/>
          </a:prstGeom>
          <a:noFill/>
          <a:ln w="0">
            <a:noFill/>
          </a:ln>
        </p:spPr>
        <p:txBody>
          <a:bodyPr>
            <a:noAutofit/>
          </a:bodyPr>
          <a:lstStyle/>
          <a:p>
            <a:pPr>
              <a:defRPr sz="1950" b="1">
                <a:solidFill>
                  <a:srgbClr val="185F91"/>
                </a:solidFill>
                <a:latin typeface="DejaVu Sans"/>
                <a:ea typeface="DejaVu Sans"/>
                <a:cs typeface="DejaVu Sans"/>
              </a:defRPr>
            </a:pPr>
            <a:r>
              <a:rPr sz="1950" b="1">
                <a:solidFill>
                  <a:srgbClr val="185F91"/>
                </a:solidFill>
                <a:latin typeface="DejaVu Sans"/>
                <a:ea typeface="DejaVu Sans"/>
                <a:cs typeface="DejaVu Sans"/>
              </a:rPr>
              <a:t>4 core inputs</a:t>
            </a:r>
          </a:p>
        </p:txBody>
      </p:sp>
      <p:sp>
        <p:nvSpPr>
          <p:cNvPr id="35" name="">
            <a:extLst>
              <a:ext uri="{FF2B5EF4-FFF2-40B4-BE49-F238E27FC236}">
                <ns2:creationId id="{904D3204-F9D8-48F1-99DB-B0CEAE05D182}"/>
              </a:ext>
            </a:extLst>
          </p:cNvPr>
          <p:cNvSpPr>
            <a:spLocks noGrp="1"/>
          </p:cNvSpPr>
          <p:nvPr/>
        </p:nvSpPr>
        <p:spPr>
          <a:xfrm>
            <a:off x="609600" y="4486275"/>
            <a:ext cx="4629150" cy="704850"/>
          </a:xfrm>
          <a:prstGeom prst="rect">
            <a:avLst/>
          </a:prstGeom>
          <a:noFill/>
          <a:ln w="0">
            <a:noFill/>
          </a:ln>
        </p:spPr>
        <p:txBody>
          <a:bodyPr>
            <a:noAutofit/>
          </a:bodyPr>
          <a:lstStyle/>
          <a:p>
            <a:pPr>
              <a:defRPr sz="1875" b="0">
                <a:solidFill>
                  <a:srgbClr val="172D40"/>
                </a:solidFill>
                <a:latin typeface="DejaVu Sans"/>
                <a:ea typeface="DejaVu Sans"/>
                <a:cs typeface="DejaVu Sans"/>
              </a:defRPr>
            </a:pPr>
            <a:r>
              <a:rPr sz="1875" b="0">
                <a:solidFill>
                  <a:srgbClr val="172D40"/>
                </a:solidFill>
                <a:latin typeface="DejaVu Sans"/>
                <a:ea typeface="DejaVu Sans"/>
                <a:cs typeface="DejaVu Sans"/>
              </a:rPr>
              <a:t>Decile · Specialty</a:t>
            </a:r>
          </a:p>
          <a:p>
            <a:pPr>
              <a:defRPr sz="1875" b="0">
                <a:solidFill>
                  <a:srgbClr val="172D40"/>
                </a:solidFill>
                <a:latin typeface="DejaVu Sans"/>
                <a:ea typeface="DejaVu Sans"/>
                <a:cs typeface="DejaVu Sans"/>
              </a:defRPr>
            </a:pPr>
            <a:r>
              <a:rPr sz="1875" b="0">
                <a:solidFill>
                  <a:srgbClr val="172D40"/>
                </a:solidFill>
                <a:latin typeface="DejaVu Sans"/>
                <a:ea typeface="DejaVu Sans"/>
                <a:cs typeface="DejaVu Sans"/>
              </a:rPr>
              <a:t>Formulary status · Competitor share</a:t>
            </a:r>
          </a:p>
        </p:txBody>
      </p:sp>
      <p:sp>
        <p:nvSpPr>
          <p:cNvPr id="36" name="">
            <a:extLst>
              <a:ext uri="{FF2B5EF4-FFF2-40B4-BE49-F238E27FC236}">
                <ns2:creationId id="{FFA7FD7E-29B2-4226-83CE-96812FD3AEC5}"/>
              </a:ext>
            </a:extLst>
          </p:cNvPr>
          <p:cNvSpPr>
            <a:spLocks noGrp="1"/>
          </p:cNvSpPr>
          <p:nvPr/>
        </p:nvSpPr>
        <p:spPr>
          <a:xfrm>
            <a:off x="5648325" y="3981450"/>
            <a:ext cx="5934075" cy="342900"/>
          </a:xfrm>
          <a:prstGeom prst="rect">
            <a:avLst/>
          </a:prstGeom>
          <a:noFill/>
          <a:ln w="0">
            <a:noFill/>
          </a:ln>
        </p:spPr>
        <p:txBody>
          <a:bodyPr>
            <a:noAutofit/>
          </a:bodyPr>
          <a:lstStyle/>
          <a:p>
            <a:pPr>
              <a:defRPr sz="1950" b="1">
                <a:solidFill>
                  <a:srgbClr val="185F91"/>
                </a:solidFill>
                <a:latin typeface="DejaVu Sans"/>
                <a:ea typeface="DejaVu Sans"/>
                <a:cs typeface="DejaVu Sans"/>
              </a:defRPr>
            </a:pPr>
            <a:r>
              <a:rPr sz="1950" b="1">
                <a:solidFill>
                  <a:srgbClr val="185F91"/>
                </a:solidFill>
                <a:latin typeface="DejaVu Sans"/>
                <a:ea typeface="DejaVu Sans"/>
                <a:cs typeface="DejaVu Sans"/>
              </a:rPr>
              <a:t>7 additional inputs in the delivery</a:t>
            </a:r>
          </a:p>
        </p:txBody>
      </p:sp>
      <p:sp>
        <p:nvSpPr>
          <p:cNvPr id="37" name="">
            <a:extLst>
              <a:ext uri="{FF2B5EF4-FFF2-40B4-BE49-F238E27FC236}">
                <ns2:creationId id="{3995D01B-D335-4EF8-A0A5-F4A4B53A29D1}"/>
              </a:ext>
            </a:extLst>
          </p:cNvPr>
          <p:cNvSpPr>
            <a:spLocks noGrp="1"/>
          </p:cNvSpPr>
          <p:nvPr/>
        </p:nvSpPr>
        <p:spPr>
          <a:xfrm>
            <a:off x="5648325" y="4486275"/>
            <a:ext cx="5934075" cy="1028700"/>
          </a:xfrm>
          <a:prstGeom prst="rect">
            <a:avLst/>
          </a:prstGeom>
          <a:noFill/>
          <a:ln w="0">
            <a:noFill/>
          </a:ln>
        </p:spPr>
        <p:txBody>
          <a:bodyPr>
            <a:noAutofit/>
          </a:bodyPr>
          <a:lstStyle/>
          <a:p>
            <a:pPr>
              <a:defRPr sz="1800" b="0">
                <a:solidFill>
                  <a:srgbClr val="172D40"/>
                </a:solidFill>
                <a:latin typeface="DejaVu Sans"/>
                <a:ea typeface="DejaVu Sans"/>
                <a:cs typeface="DejaVu Sans"/>
              </a:defRPr>
            </a:pPr>
            <a:r>
              <a:rPr sz="1800" b="0">
                <a:solidFill>
                  <a:srgbClr val="172D40"/>
                </a:solidFill>
                <a:latin typeface="DejaVu Sans"/>
                <a:ea typeface="DejaVu Sans"/>
                <a:cs typeface="DejaVu Sans"/>
              </a:rPr>
              <a:t>Region · Institution type · Years in practice</a:t>
            </a:r>
          </a:p>
          <a:p>
            <a:pPr>
              <a:defRPr sz="1800" b="0">
                <a:solidFill>
                  <a:srgbClr val="172D40"/>
                </a:solidFill>
                <a:latin typeface="DejaVu Sans"/>
                <a:ea typeface="DejaVu Sans"/>
                <a:cs typeface="DejaVu Sans"/>
              </a:defRPr>
            </a:pPr>
            <a:r>
              <a:rPr sz="1800" b="0">
                <a:solidFill>
                  <a:srgbClr val="172D40"/>
                </a:solidFill>
                <a:latin typeface="DejaVu Sans"/>
                <a:ea typeface="DejaVu Sans"/>
                <a:cs typeface="DejaVu Sans"/>
              </a:rPr>
              <a:t>Emails sent · Emails opened · Digital engagement</a:t>
            </a:r>
          </a:p>
          <a:p>
            <a:pPr>
              <a:defRPr sz="1800" b="0">
                <a:solidFill>
                  <a:srgbClr val="172D40"/>
                </a:solidFill>
                <a:latin typeface="DejaVu Sans"/>
                <a:ea typeface="DejaVu Sans"/>
                <a:cs typeface="DejaVu Sans"/>
              </a:defRPr>
            </a:pPr>
            <a:r>
              <a:rPr sz="1800" b="0">
                <a:solidFill>
                  <a:srgbClr val="172D40"/>
                </a:solidFill>
                <a:latin typeface="DejaVu Sans"/>
                <a:ea typeface="DejaVu Sans"/>
                <a:cs typeface="DejaVu Sans"/>
              </a:rPr>
              <a:t>Commercial payer mix</a:t>
            </a:r>
          </a:p>
        </p:txBody>
      </p:sp>
      <p:sp>
        <p:nvSpPr>
          <p:cNvPr id="38" name="">
            <a:extLst>
              <a:ext uri="{FF2B5EF4-FFF2-40B4-BE49-F238E27FC236}">
                <ns2:creationId id="{F2E4EA07-4AA9-44A5-86C7-B72AC2822B3A}"/>
              </a:ext>
            </a:extLst>
          </p:cNvPr>
          <p:cNvSpPr>
            <a:spLocks noGrp="1"/>
          </p:cNvSpPr>
          <p:nvPr/>
        </p:nvSpPr>
        <p:spPr>
          <a:xfrm>
            <a:off x="609600" y="5734050"/>
            <a:ext cx="10972800" cy="333375"/>
          </a:xfrm>
          <a:prstGeom prst="rect">
            <a:avLst/>
          </a:prstGeom>
          <a:noFill/>
          <a:ln w="0">
            <a:noFill/>
          </a:ln>
        </p:spPr>
        <p:txBody>
          <a:bodyPr>
            <a:noAutofit/>
          </a:bodyPr>
          <a:lstStyle/>
          <a:p>
            <a:pPr>
              <a:defRPr sz="1725" b="1">
                <a:solidFill>
                  <a:srgbClr val="172D40"/>
                </a:solidFill>
                <a:latin typeface="DejaVu Sans"/>
                <a:ea typeface="DejaVu Sans"/>
                <a:cs typeface="DejaVu Sans"/>
              </a:defRPr>
            </a:pPr>
            <a:r>
              <a:rPr sz="1725" b="1">
                <a:solidFill>
                  <a:srgbClr val="172D40"/>
                </a:solidFill>
                <a:latin typeface="DejaVu Sans"/>
                <a:ea typeface="DejaVu Sans"/>
                <a:cs typeface="DejaVu Sans"/>
              </a:rPr>
              <a:t>No broad parameter search or automated deployment. Input availability remains provisional.</a:t>
            </a:r>
          </a:p>
        </p:txBody>
      </p:sp>
    </p:spTree>
    <p:extLst>
      <p:ext uri="{BB962C8B-B14F-4D97-AF65-F5344CB8AC3E}">
        <ns3:creationId val="1357866904"/>
      </p:ext>
    </p:extLst>
  </p:cSld>
</p:sld>
</file>

<file path=ppt/slides/slide4.xml><?xml version="1.0" encoding="utf-8"?>
<p:sld xmlns:a="http://schemas.openxmlformats.org/drawingml/2006/main" xmlns:ns2="http://schemas.microsoft.com/office/drawing/2014/main" xmlns:ns3="http://schemas.openxmlformats.org/drawingml/2006/chart" xmlns:ns4="http://schemas.openxmlformats.org/officeDocument/2006/relationships" xmlns:ns5="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6" name="">
            <a:extLst>
              <a:ext uri="{FF2B5EF4-FFF2-40B4-BE49-F238E27FC236}">
                <ns2:creationId id="{551DA9B2-71B1-484C-8A57-C2A6D766472A}"/>
              </a:ext>
            </a:extLst>
          </p:cNvPr>
          <p:cNvSpPr>
            <a:spLocks noGrp="1"/>
          </p:cNvSpPr>
          <p:nvPr/>
        </p:nvSpPr>
        <p:spPr>
          <a:xfrm>
            <a:off x="609600" y="200025"/>
            <a:ext cx="10287000" cy="228600"/>
          </a:xfrm>
          <a:prstGeom prst="rect">
            <a:avLst/>
          </a:prstGeom>
          <a:noFill/>
          <a:ln w="0">
            <a:noFill/>
          </a:ln>
        </p:spPr>
        <p:txBody>
          <a:bodyPr>
            <a:noAutofit/>
          </a:bodyPr>
          <a:lstStyle/>
          <a:p>
            <a:pPr>
              <a:defRPr sz="1050" b="1">
                <a:solidFill>
                  <a:srgbClr val="185F91"/>
                </a:solidFill>
                <a:latin typeface="DejaVu Sans"/>
                <a:ea typeface="DejaVu Sans"/>
                <a:cs typeface="DejaVu Sans"/>
              </a:defRPr>
            </a:pPr>
            <a:r>
              <a:rPr sz="1050" b="1">
                <a:solidFill>
                  <a:srgbClr val="185F91"/>
                </a:solidFill>
                <a:latin typeface="DejaVu Sans"/>
                <a:ea typeface="DejaVu Sans"/>
                <a:cs typeface="DejaVu Sans"/>
              </a:rPr>
              <a:t>COMPARISON AT THE OPERATING CAPACITY</a:t>
            </a:r>
          </a:p>
        </p:txBody>
      </p:sp>
      <p:sp>
        <p:nvSpPr>
          <p:cNvPr id="2" name="">
            <a:extLst>
              <a:ext uri="{FF2B5EF4-FFF2-40B4-BE49-F238E27FC236}">
                <ns2:creationId id="{F7DEAF0D-3826-4740-B506-A6D6BA588909}"/>
              </a:ext>
            </a:extLst>
          </p:cNvPr>
          <p:cNvSpPr>
            <a:spLocks noGrp="1"/>
          </p:cNvSpPr>
          <p:nvPr/>
        </p:nvSpPr>
        <p:spPr>
          <a:xfrm>
            <a:off x="10915650" y="190500"/>
            <a:ext cx="666750" cy="266700"/>
          </a:xfrm>
          <a:prstGeom prst="rect">
            <a:avLst/>
          </a:prstGeom>
          <a:noFill/>
          <a:ln w="0">
            <a:noFill/>
          </a:ln>
        </p:spPr>
        <p:txBody>
          <a:bodyPr>
            <a:noAutofit/>
          </a:bodyPr>
          <a:lstStyle/>
          <a:p>
            <a:pPr>
              <a:defRPr sz="1200" b="1">
                <a:solidFill>
                  <a:srgbClr val="536774"/>
                </a:solidFill>
                <a:latin typeface="DejaVu Sans"/>
                <a:ea typeface="DejaVu Sans"/>
                <a:cs typeface="DejaVu Sans"/>
              </a:defRPr>
            </a:pPr>
            <a:r>
              <a:rPr sz="1200" b="1">
                <a:solidFill>
                  <a:srgbClr val="536774"/>
                </a:solidFill>
                <a:latin typeface="DejaVu Sans"/>
                <a:ea typeface="DejaVu Sans"/>
                <a:cs typeface="DejaVu Sans"/>
              </a:rPr>
              <a:t>04</a:t>
            </a:r>
          </a:p>
        </p:txBody>
      </p:sp>
      <p:sp>
        <p:nvSpPr>
          <p:cNvPr id="3" name="">
            <a:extLst>
              <a:ext uri="{FF2B5EF4-FFF2-40B4-BE49-F238E27FC236}">
                <ns2:creationId id="{8D03B400-6A42-4225-999F-6C4D3DD49507}"/>
              </a:ext>
            </a:extLst>
          </p:cNvPr>
          <p:cNvSpPr>
            <a:spLocks noGrp="1"/>
          </p:cNvSpPr>
          <p:nvPr/>
        </p:nvSpPr>
        <p:spPr>
          <a:xfrm>
            <a:off x="609600" y="590550"/>
            <a:ext cx="10972800" cy="990600"/>
          </a:xfrm>
          <a:prstGeom prst="rect">
            <a:avLst/>
          </a:prstGeom>
          <a:noFill/>
          <a:ln w="0">
            <a:noFill/>
          </a:ln>
        </p:spPr>
        <p:txBody>
          <a:bodyPr>
            <a:noAutofit/>
          </a:bodyPr>
          <a:lstStyle/>
          <a:p>
            <a:pPr>
              <a:defRPr sz="2850" b="1">
                <a:solidFill>
                  <a:srgbClr val="172D40"/>
                </a:solidFill>
                <a:latin typeface="DejaVu Sans"/>
                <a:ea typeface="DejaVu Sans"/>
                <a:cs typeface="DejaVu Sans"/>
              </a:defRPr>
            </a:pPr>
            <a:r>
              <a:rPr sz="2850" b="1">
                <a:solidFill>
                  <a:srgbClr val="172D40"/>
                </a:solidFill>
                <a:latin typeface="DejaVu Sans"/>
                <a:ea typeface="DejaVu Sans"/>
                <a:cs typeface="DejaVu Sans"/>
              </a:rPr>
              <a:t>Simple alternatives capture much of the signal</a:t>
            </a:r>
          </a:p>
        </p:txBody>
      </p:sp>
      <p:sp>
        <p:nvSpPr>
          <p:cNvPr id="4" name="">
            <a:extLst>
              <a:ext uri="{FF2B5EF4-FFF2-40B4-BE49-F238E27FC236}">
                <ns2:creationId id="{36D3516C-8CDA-4606-8AB2-9AD194FCD53F}"/>
              </a:ext>
            </a:extLst>
          </p:cNvPr>
          <p:cNvSpPr>
            <a:spLocks noGrp="1"/>
          </p:cNvSpPr>
          <p:nvPr/>
        </p:nvSpPr>
        <p:spPr>
          <a:xfrm>
            <a:off x="609600" y="6191250"/>
            <a:ext cx="10972800" cy="0"/>
          </a:xfrm>
          <a:prstGeom prst="line">
            <a:avLst/>
          </a:prstGeom>
          <a:noFill/>
          <a:ln w="9525">
            <a:solidFill>
              <a:srgbClr val="DCE5EB"/>
            </a:solidFill>
            <a:prstDash val="solid"/>
          </a:ln>
        </p:spPr>
      </p:sp>
      <p:sp>
        <p:nvSpPr>
          <p:cNvPr id="5" name="">
            <a:extLst>
              <a:ext uri="{FF2B5EF4-FFF2-40B4-BE49-F238E27FC236}">
                <ns2:creationId id="{0D5BB131-3FD2-4320-8787-BBD7680B1E99}"/>
              </a:ext>
            </a:extLst>
          </p:cNvPr>
          <p:cNvSpPr>
            <a:spLocks noGrp="1"/>
          </p:cNvSpPr>
          <p:nvPr/>
        </p:nvSpPr>
        <p:spPr>
          <a:xfrm>
            <a:off x="609600" y="6334125"/>
            <a:ext cx="10972800" cy="323850"/>
          </a:xfrm>
          <a:prstGeom prst="rect">
            <a:avLst/>
          </a:prstGeom>
          <a:noFill/>
          <a:ln w="0">
            <a:noFill/>
          </a:ln>
        </p:spPr>
        <p:txBody>
          <a:bodyPr>
            <a:noAutofit/>
          </a:bodyPr>
          <a:lstStyle/>
          <a:p>
            <a:pPr>
              <a:defRPr sz="900" b="0">
                <a:solidFill>
                  <a:srgbClr val="536774"/>
                </a:solidFill>
                <a:latin typeface="DejaVu Sans"/>
                <a:ea typeface="DejaVu Sans"/>
                <a:cs typeface="DejaVu Sans"/>
              </a:defRPr>
            </a:pPr>
            <a:r>
              <a:rPr sz="900" b="0">
                <a:solidFill>
                  <a:srgbClr val="536774"/>
                </a:solidFill>
                <a:latin typeface="DejaVu Sans"/>
                <a:ea typeface="DejaVu Sans"/>
                <a:cs typeface="DejaVu Sans"/>
              </a:rPr>
              <a:t>Oct–Dec 2025 · Mean monthly precision · Same fit and evaluation populations · Full curves: reports/comparison</a:t>
            </a:r>
          </a:p>
        </p:txBody>
      </p:sp>
      <p:sp>
        <p:nvSpPr>
          <p:cNvPr id="6" name="">
            <a:extLst>
              <a:ext uri="{FF2B5EF4-FFF2-40B4-BE49-F238E27FC236}">
                <ns2:creationId id="{BA0F8299-A772-4CAF-878A-F0CDC2553D6E}"/>
              </a:ext>
            </a:extLst>
          </p:cNvPr>
          <p:cNvSpPr>
            <a:spLocks noGrp="1"/>
          </p:cNvSpPr>
          <p:nvPr/>
        </p:nvSpPr>
        <p:spPr>
          <a:xfrm>
            <a:off x="609600" y="1552575"/>
            <a:ext cx="7239000" cy="285750"/>
          </a:xfrm>
          <a:prstGeom prst="rect">
            <a:avLst/>
          </a:prstGeom>
          <a:noFill/>
          <a:ln w="0">
            <a:noFill/>
          </a:ln>
        </p:spPr>
        <p:txBody>
          <a:bodyPr>
            <a:noAutofit/>
          </a:bodyPr>
          <a:lstStyle/>
          <a:p>
            <a:pPr>
              <a:defRPr sz="1575" b="1">
                <a:solidFill>
                  <a:srgbClr val="172D40"/>
                </a:solidFill>
                <a:latin typeface="DejaVu Sans"/>
                <a:ea typeface="DejaVu Sans"/>
                <a:cs typeface="DejaVu Sans"/>
              </a:defRPr>
            </a:pPr>
            <a:r>
              <a:rPr sz="1575" b="1">
                <a:solidFill>
                  <a:srgbClr val="172D40"/>
                </a:solidFill>
                <a:latin typeface="DejaVu Sans"/>
                <a:ea typeface="DejaVu Sans"/>
                <a:cs typeface="DejaVu Sans"/>
              </a:rPr>
              <a:t>Precision among selected positions</a:t>
            </a:r>
          </a:p>
        </p:txBody>
      </p:sp>
      <p:graphicFrame>
        <p:nvGraphicFramePr>
          <p:cNvPr id="22" name="Chart"/>
          <p:cNvGraphicFramePr/>
          <p:nvPr/>
        </p:nvGraphicFramePr>
        <p:xfrm>
          <a:off x="609600" y="1914525"/>
          <a:ext cx="7191375" cy="3000375"/>
        </p:xfrm>
        <a:graphic>
          <a:graphicData uri="http://schemas.openxmlformats.org/drawingml/2006/chart">
            <ns3:chart ns4:id="Rdcf5a0ac481244aa"/>
          </a:graphicData>
        </a:graphic>
      </p:graphicFrame>
      <p:sp>
        <p:nvSpPr>
          <p:cNvPr id="8" name="">
            <a:extLst>
              <a:ext uri="{FF2B5EF4-FFF2-40B4-BE49-F238E27FC236}">
                <ns2:creationId id="{A3916B2D-3CB4-42AC-B84E-15872E3B10C3}"/>
              </a:ext>
            </a:extLst>
          </p:cNvPr>
          <p:cNvSpPr>
            <a:spLocks noGrp="1"/>
          </p:cNvSpPr>
          <p:nvPr/>
        </p:nvSpPr>
        <p:spPr>
          <a:xfrm>
            <a:off x="1257300" y="5010150"/>
            <a:ext cx="6534150" cy="304800"/>
          </a:xfrm>
          <a:prstGeom prst="rect">
            <a:avLst/>
          </a:prstGeom>
          <a:noFill/>
          <a:ln w="0">
            <a:noFill/>
          </a:ln>
        </p:spPr>
        <p:txBody>
          <a:bodyPr>
            <a:noAutofit/>
          </a:bodyPr>
          <a:lstStyle/>
          <a:p>
            <a:pPr>
              <a:defRPr sz="1425" b="0">
                <a:solidFill>
                  <a:srgbClr val="536774"/>
                </a:solidFill>
                <a:latin typeface="DejaVu Sans"/>
                <a:ea typeface="DejaVu Sans"/>
                <a:cs typeface="DejaVu Sans"/>
              </a:defRPr>
            </a:pPr>
            <a:r>
              <a:rPr sz="1425" b="0">
                <a:solidFill>
                  <a:srgbClr val="536774"/>
                </a:solidFill>
                <a:latin typeface="DejaVu Sans"/>
                <a:ea typeface="DejaVu Sans"/>
                <a:cs typeface="DejaVu Sans"/>
              </a:rPr>
              <a:t>Monthly selection capacity · view: 1–30%</a:t>
            </a:r>
          </a:p>
        </p:txBody>
      </p:sp>
      <p:sp>
        <p:nvSpPr>
          <p:cNvPr id="9" name="">
            <a:extLst>
              <a:ext uri="{FF2B5EF4-FFF2-40B4-BE49-F238E27FC236}">
                <ns2:creationId id="{6E164D19-57D4-4D5C-8108-065EC3381888}"/>
              </a:ext>
            </a:extLst>
          </p:cNvPr>
          <p:cNvSpPr>
            <a:spLocks noGrp="1"/>
          </p:cNvSpPr>
          <p:nvPr/>
        </p:nvSpPr>
        <p:spPr>
          <a:xfrm>
            <a:off x="8172450" y="1609725"/>
            <a:ext cx="3409950" cy="3571875"/>
          </a:xfrm>
          <a:prstGeom prst="rect">
            <a:avLst/>
          </a:prstGeom>
          <a:solidFill>
            <a:srgbClr val="EFF5F8"/>
          </a:solidFill>
          <a:ln w="0">
            <a:noFill/>
          </a:ln>
        </p:spPr>
      </p:sp>
      <p:sp>
        <p:nvSpPr>
          <p:cNvPr id="10" name="">
            <a:extLst>
              <a:ext uri="{FF2B5EF4-FFF2-40B4-BE49-F238E27FC236}">
                <ns2:creationId id="{E2D50086-0308-4663-B73F-454A377ABAD1}"/>
              </a:ext>
            </a:extLst>
          </p:cNvPr>
          <p:cNvSpPr>
            <a:spLocks noGrp="1"/>
          </p:cNvSpPr>
          <p:nvPr/>
        </p:nvSpPr>
        <p:spPr>
          <a:xfrm>
            <a:off x="8382000" y="1809750"/>
            <a:ext cx="2990850" cy="409575"/>
          </a:xfrm>
          <a:prstGeom prst="rect">
            <a:avLst/>
          </a:prstGeom>
          <a:noFill/>
          <a:ln w="0">
            <a:noFill/>
          </a:ln>
        </p:spPr>
        <p:txBody>
          <a:bodyPr>
            <a:noAutofit/>
          </a:bodyPr>
          <a:lstStyle/>
          <a:p>
            <a:pPr>
              <a:defRPr sz="1950" b="1">
                <a:solidFill>
                  <a:srgbClr val="185F91"/>
                </a:solidFill>
                <a:latin typeface="DejaVu Sans"/>
                <a:ea typeface="DejaVu Sans"/>
                <a:cs typeface="DejaVu Sans"/>
              </a:defRPr>
            </a:pPr>
            <a:r>
              <a:rPr sz="1950" b="1">
                <a:solidFill>
                  <a:srgbClr val="185F91"/>
                </a:solidFill>
                <a:latin typeface="DejaVu Sans"/>
                <a:ea typeface="DejaVu Sans"/>
                <a:cs typeface="DejaVu Sans"/>
              </a:rPr>
              <a:t>Why retain eleven?</a:t>
            </a:r>
          </a:p>
        </p:txBody>
      </p:sp>
      <p:sp>
        <p:nvSpPr>
          <p:cNvPr id="11" name="">
            <a:extLst>
              <a:ext uri="{FF2B5EF4-FFF2-40B4-BE49-F238E27FC236}">
                <ns2:creationId id="{8F2CB230-D28B-4D0F-BD38-1AD919B30CCB}"/>
              </a:ext>
            </a:extLst>
          </p:cNvPr>
          <p:cNvSpPr>
            <a:spLocks noGrp="1"/>
          </p:cNvSpPr>
          <p:nvPr/>
        </p:nvSpPr>
        <p:spPr>
          <a:xfrm>
            <a:off x="8382000" y="2371725"/>
            <a:ext cx="2952750" cy="1181100"/>
          </a:xfrm>
          <a:prstGeom prst="rect">
            <a:avLst/>
          </a:prstGeom>
          <a:noFill/>
          <a:ln w="0">
            <a:noFill/>
          </a:ln>
        </p:spPr>
        <p:txBody>
          <a:bodyPr>
            <a:noAutofit/>
          </a:bodyPr>
          <a:lstStyle/>
          <a:p>
            <a:pPr>
              <a:defRPr sz="1800" b="0">
                <a:solidFill>
                  <a:srgbClr val="172D40"/>
                </a:solidFill>
                <a:latin typeface="DejaVu Sans"/>
                <a:ea typeface="DejaVu Sans"/>
                <a:cs typeface="DejaVu Sans"/>
              </a:defRPr>
            </a:pPr>
            <a:r>
              <a:rPr sz="1800" b="0">
                <a:solidFill>
                  <a:srgbClr val="172D40"/>
                </a:solidFill>
                <a:latin typeface="DejaVu Sans"/>
                <a:ea typeface="DejaVu Sans"/>
                <a:cs typeface="DejaVu Sans"/>
              </a:rPr>
              <a:t>Development selection:</a:t>
            </a:r>
          </a:p>
          <a:p>
            <a:pPr>
              <a:defRPr sz="1800" b="0">
                <a:solidFill>
                  <a:srgbClr val="172D40"/>
                </a:solidFill>
                <a:latin typeface="DejaVu Sans"/>
                <a:ea typeface="DejaVu Sans"/>
                <a:cs typeface="DejaVu Sans"/>
              </a:defRPr>
            </a:pPr>
            <a:r>
              <a:rPr sz="1800" b="0">
                <a:solidFill>
                  <a:srgbClr val="172D40"/>
                </a:solidFill>
                <a:latin typeface="DejaVu Sans"/>
                <a:ea typeface="DejaVu Sans"/>
                <a:cs typeface="DejaVu Sans"/>
              </a:rPr>
              <a:t>average precision and</a:t>
            </a:r>
          </a:p>
          <a:p>
            <a:pPr>
              <a:defRPr sz="1800" b="0">
                <a:solidFill>
                  <a:srgbClr val="172D40"/>
                </a:solidFill>
                <a:latin typeface="DejaVu Sans"/>
                <a:ea typeface="DejaVu Sans"/>
                <a:cs typeface="DejaVu Sans"/>
              </a:defRPr>
            </a:pPr>
            <a:r>
              <a:rPr sz="1800" b="0">
                <a:solidFill>
                  <a:srgbClr val="172D40"/>
                </a:solidFill>
                <a:latin typeface="DejaVu Sans"/>
                <a:ea typeface="DejaVu Sans"/>
                <a:cs typeface="DejaVu Sans"/>
              </a:rPr>
              <a:t>precision at 5%, 10% and 20%.</a:t>
            </a:r>
          </a:p>
        </p:txBody>
      </p:sp>
      <p:sp>
        <p:nvSpPr>
          <p:cNvPr id="12" name="">
            <a:extLst>
              <a:ext uri="{FF2B5EF4-FFF2-40B4-BE49-F238E27FC236}">
                <ns2:creationId id="{6E2DCCD1-8ABE-4683-9397-32349BBAAD75}"/>
              </a:ext>
            </a:extLst>
          </p:cNvPr>
          <p:cNvSpPr>
            <a:spLocks noGrp="1"/>
          </p:cNvSpPr>
          <p:nvPr/>
        </p:nvSpPr>
        <p:spPr>
          <a:xfrm>
            <a:off x="8382000" y="3686175"/>
            <a:ext cx="2952750" cy="609600"/>
          </a:xfrm>
          <a:prstGeom prst="rect">
            <a:avLst/>
          </a:prstGeom>
          <a:noFill/>
          <a:ln w="0">
            <a:noFill/>
          </a:ln>
        </p:spPr>
        <p:txBody>
          <a:bodyPr>
            <a:noAutofit/>
          </a:bodyPr>
          <a:lstStyle/>
          <a:p>
            <a:pPr>
              <a:defRPr sz="1800" b="0">
                <a:solidFill>
                  <a:srgbClr val="172D40"/>
                </a:solidFill>
                <a:latin typeface="DejaVu Sans"/>
                <a:ea typeface="DejaVu Sans"/>
                <a:cs typeface="DejaVu Sans"/>
              </a:defRPr>
            </a:pPr>
            <a:r>
              <a:rPr sz="1800" b="0">
                <a:solidFill>
                  <a:srgbClr val="172D40"/>
                </a:solidFill>
                <a:latin typeface="DejaVu Sans"/>
                <a:ea typeface="DejaVu Sans"/>
                <a:cs typeface="DejaVu Sans"/>
              </a:rPr>
              <a:t>Results vary by capacity and period.</a:t>
            </a:r>
          </a:p>
        </p:txBody>
      </p:sp>
      <p:sp>
        <p:nvSpPr>
          <p:cNvPr id="13" name="">
            <a:extLst>
              <a:ext uri="{FF2B5EF4-FFF2-40B4-BE49-F238E27FC236}">
                <ns2:creationId id="{49262117-5E20-48BC-9260-C8F47BC95D40}"/>
              </a:ext>
            </a:extLst>
          </p:cNvPr>
          <p:cNvSpPr>
            <a:spLocks noGrp="1"/>
          </p:cNvSpPr>
          <p:nvPr/>
        </p:nvSpPr>
        <p:spPr>
          <a:xfrm>
            <a:off x="8382000" y="4467225"/>
            <a:ext cx="2952750" cy="695325"/>
          </a:xfrm>
          <a:prstGeom prst="rect">
            <a:avLst/>
          </a:prstGeom>
          <a:noFill/>
          <a:ln w="0">
            <a:noFill/>
          </a:ln>
        </p:spPr>
        <p:txBody>
          <a:bodyPr>
            <a:noAutofit/>
          </a:bodyPr>
          <a:lstStyle/>
          <a:p>
            <a:pPr>
              <a:defRPr sz="1725" b="1">
                <a:solidFill>
                  <a:srgbClr val="172D40"/>
                </a:solidFill>
                <a:latin typeface="DejaVu Sans"/>
                <a:ea typeface="DejaVu Sans"/>
                <a:cs typeface="DejaVu Sans"/>
              </a:defRPr>
            </a:pPr>
            <a:r>
              <a:rPr sz="1725" b="1">
                <a:solidFill>
                  <a:srgbClr val="172D40"/>
                </a:solidFill>
                <a:latin typeface="DejaVu Sans"/>
                <a:ea typeface="DejaVu Sans"/>
                <a:cs typeface="DejaVu Sans"/>
              </a:rPr>
              <a:t>No consistent replacement established.</a:t>
            </a:r>
          </a:p>
        </p:txBody>
      </p:sp>
      <p:sp>
        <p:nvSpPr>
          <p:cNvPr id="14" name="">
            <a:extLst>
              <a:ext uri="{FF2B5EF4-FFF2-40B4-BE49-F238E27FC236}">
                <ns2:creationId id="{716093D9-758A-4FA2-843C-7D3CBE38807B}"/>
              </a:ext>
            </a:extLst>
          </p:cNvPr>
          <p:cNvSpPr>
            <a:spLocks noGrp="1"/>
          </p:cNvSpPr>
          <p:nvPr/>
        </p:nvSpPr>
        <p:spPr>
          <a:xfrm>
            <a:off x="609600" y="5457825"/>
            <a:ext cx="10972800" cy="304800"/>
          </a:xfrm>
          <a:prstGeom prst="rect">
            <a:avLst/>
          </a:prstGeom>
          <a:noFill/>
          <a:ln w="0">
            <a:noFill/>
          </a:ln>
        </p:spPr>
        <p:txBody>
          <a:bodyPr>
            <a:noAutofit/>
          </a:bodyPr>
          <a:lstStyle/>
          <a:p>
            <a:pPr>
              <a:defRPr sz="1800" b="1">
                <a:solidFill>
                  <a:srgbClr val="172D40"/>
                </a:solidFill>
                <a:latin typeface="DejaVu Sans"/>
                <a:ea typeface="DejaVu Sans"/>
                <a:cs typeface="DejaVu Sans"/>
              </a:defRPr>
            </a:pPr>
            <a:r>
              <a:rPr sz="1800" b="1">
                <a:solidFill>
                  <a:srgbClr val="172D40"/>
                </a:solidFill>
                <a:latin typeface="DejaVu Sans"/>
                <a:ea typeface="DejaVu Sans"/>
                <a:cs typeface="DejaVu Sans"/>
              </a:rPr>
              <a:t>At 10%: 11-input model 164 positives; table 161 — 608 monthly positions.</a:t>
            </a:r>
          </a:p>
        </p:txBody>
      </p:sp>
      <p:sp>
        <p:nvSpPr>
          <p:cNvPr id="15" name="">
            <a:extLst>
              <a:ext uri="{FF2B5EF4-FFF2-40B4-BE49-F238E27FC236}">
                <ns2:creationId id="{269661FF-4257-4D00-87B2-0676E19BD5EF}"/>
              </a:ext>
            </a:extLst>
          </p:cNvPr>
          <p:cNvSpPr>
            <a:spLocks noGrp="1"/>
          </p:cNvSpPr>
          <p:nvPr/>
        </p:nvSpPr>
        <p:spPr>
          <a:xfrm>
            <a:off x="609600" y="5848350"/>
            <a:ext cx="10972800" cy="276225"/>
          </a:xfrm>
          <a:prstGeom prst="rect">
            <a:avLst/>
          </a:prstGeom>
          <a:noFill/>
          <a:ln w="0">
            <a:noFill/>
          </a:ln>
        </p:spPr>
        <p:txBody>
          <a:bodyPr>
            <a:noAutofit/>
          </a:bodyPr>
          <a:lstStyle/>
          <a:p>
            <a:pPr>
              <a:defRPr sz="1650" b="0">
                <a:solidFill>
                  <a:srgbClr val="536774"/>
                </a:solidFill>
                <a:latin typeface="DejaVu Sans"/>
                <a:ea typeface="DejaVu Sans"/>
                <a:cs typeface="DejaVu Sans"/>
              </a:defRPr>
            </a:pPr>
            <a:r>
              <a:rPr sz="1650" b="0">
                <a:solidFill>
                  <a:srgbClr val="536774"/>
                </a:solidFill>
                <a:latin typeface="DejaVu Sans"/>
                <a:ea typeface="DejaVu Sans"/>
                <a:cs typeface="DejaVu Sans"/>
              </a:rPr>
              <a:t>Difference: +0.50 points · Conditional 95% interval: −2.96 to +2.30</a:t>
            </a:r>
          </a:p>
        </p:txBody>
      </p:sp>
    </p:spTree>
    <p:extLst>
      <p:ext uri="{BB962C8B-B14F-4D97-AF65-F5344CB8AC3E}">
        <ns5:creationId val="6083315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C6B0821-77CF-4F15-AC14-402B963166AC}"/>
              </a:ext>
            </a:extLst>
          </p:cNvPr>
          <p:cNvSpPr>
            <a:spLocks xmlns:a="http://schemas.openxmlformats.org/drawingml/2006/main" noGrp="1"/>
          </p:cNvSpPr>
          <p:nvPr/>
        </p:nvSpPr>
        <p:spPr>
          <a:xfrm xmlns:a="http://schemas.openxmlformats.org/drawingml/2006/main">
            <a:off x="609600" y="200025"/>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185F91"/>
                </a:solidFill>
                <a:latin typeface="DejaVu Sans"/>
                <a:ea typeface="DejaVu Sans"/>
                <a:cs typeface="DejaVu Sans"/>
              </a:defRPr>
            </a:pPr>
            <a:r>
              <a:rPr sz="1050" b="1">
                <a:solidFill>
                  <a:srgbClr val="185F91"/>
                </a:solidFill>
                <a:latin typeface="DejaVu Sans"/>
                <a:ea typeface="DejaVu Sans"/>
                <a:cs typeface="DejaVu Sans"/>
              </a:rPr>
              <a:t>LONGITUDINAL EVIDENCE</a:t>
            </a:r>
          </a:p>
        </p:txBody>
      </p:sp>
      <p:sp>
        <p:nvSpPr>
          <p:cNvPr id="2" name="">
            <a:extLst xmlns:a="http://schemas.openxmlformats.org/drawingml/2006/main">
              <a:ext uri="{FF2B5EF4-FFF2-40B4-BE49-F238E27FC236}">
                <a16:creationId xmlns:a16="http://schemas.microsoft.com/office/drawing/2014/main" id="{0667D494-30B7-4211-9B7C-63E786CC53E3}"/>
              </a:ext>
            </a:extLst>
          </p:cNvPr>
          <p:cNvSpPr>
            <a:spLocks xmlns:a="http://schemas.openxmlformats.org/drawingml/2006/main" noGrp="1"/>
          </p:cNvSpPr>
          <p:nvPr/>
        </p:nvSpPr>
        <p:spPr>
          <a:xfrm xmlns:a="http://schemas.openxmlformats.org/drawingml/2006/main">
            <a:off x="10915650" y="190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36774"/>
                </a:solidFill>
                <a:latin typeface="DejaVu Sans"/>
                <a:ea typeface="DejaVu Sans"/>
                <a:cs typeface="DejaVu Sans"/>
              </a:defRPr>
            </a:pPr>
            <a:r>
              <a:rPr sz="1200" b="1">
                <a:solidFill>
                  <a:srgbClr val="536774"/>
                </a:solidFill>
                <a:latin typeface="DejaVu Sans"/>
                <a:ea typeface="DejaVu Sans"/>
                <a:cs typeface="DejaVu Sans"/>
              </a:rPr>
              <a:t>05</a:t>
            </a:r>
          </a:p>
        </p:txBody>
      </p:sp>
      <p:sp>
        <p:nvSpPr>
          <p:cNvPr id="3" name="">
            <a:extLst xmlns:a="http://schemas.openxmlformats.org/drawingml/2006/main">
              <a:ext uri="{FF2B5EF4-FFF2-40B4-BE49-F238E27FC236}">
                <a16:creationId xmlns:a16="http://schemas.microsoft.com/office/drawing/2014/main" id="{953D7278-A862-4DDC-B52F-A8B1B0CEB6CD}"/>
              </a:ext>
            </a:extLst>
          </p:cNvPr>
          <p:cNvSpPr>
            <a:spLocks xmlns:a="http://schemas.openxmlformats.org/drawingml/2006/main" noGrp="1"/>
          </p:cNvSpPr>
          <p:nvPr/>
        </p:nvSpPr>
        <p:spPr>
          <a:xfrm xmlns:a="http://schemas.openxmlformats.org/drawingml/2006/main">
            <a:off x="609600" y="5905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D40"/>
                </a:solidFill>
                <a:latin typeface="DejaVu Sans"/>
                <a:ea typeface="DejaVu Sans"/>
                <a:cs typeface="DejaVu Sans"/>
              </a:defRPr>
            </a:pPr>
            <a:r>
              <a:rPr sz="2850" b="1">
                <a:solidFill>
                  <a:srgbClr val="172D40"/>
                </a:solidFill>
                <a:latin typeface="DejaVu Sans"/>
                <a:ea typeface="DejaVu Sans"/>
                <a:cs typeface="DejaVu Sans"/>
              </a:rPr>
              <a:t>HCP history is promising; its added value is uncertain</a:t>
            </a:r>
          </a:p>
        </p:txBody>
      </p:sp>
      <p:sp>
        <p:nvSpPr>
          <p:cNvPr id="4" name="">
            <a:extLst xmlns:a="http://schemas.openxmlformats.org/drawingml/2006/main">
              <a:ext uri="{FF2B5EF4-FFF2-40B4-BE49-F238E27FC236}">
                <a16:creationId xmlns:a16="http://schemas.microsoft.com/office/drawing/2014/main" id="{E2BC5053-35C7-456E-99D1-7CBF632106ED}"/>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DCE5EB"/>
            </a:solidFill>
            <a:prstDash val="solid"/>
          </a:ln>
        </p:spPr>
      </p:sp>
      <p:sp>
        <p:nvSpPr>
          <p:cNvPr id="5" name="">
            <a:extLst xmlns:a="http://schemas.openxmlformats.org/drawingml/2006/main">
              <a:ext uri="{FF2B5EF4-FFF2-40B4-BE49-F238E27FC236}">
                <a16:creationId xmlns:a16="http://schemas.microsoft.com/office/drawing/2014/main" id="{94E95C51-3136-4C6E-9812-4D7830343303}"/>
              </a:ext>
            </a:extLst>
          </p:cNvPr>
          <p:cNvSpPr>
            <a:spLocks xmlns:a="http://schemas.openxmlformats.org/drawingml/2006/main" noGrp="1"/>
          </p:cNvSpPr>
          <p:nvPr/>
        </p:nvSpPr>
        <p:spPr>
          <a:xfrm xmlns:a="http://schemas.openxmlformats.org/drawingml/2006/main">
            <a:off x="609600" y="63341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36774"/>
                </a:solidFill>
                <a:latin typeface="DejaVu Sans"/>
                <a:ea typeface="DejaVu Sans"/>
                <a:cs typeface="DejaVu Sans"/>
              </a:defRPr>
            </a:pPr>
            <a:r>
              <a:rPr sz="900" b="0">
                <a:solidFill>
                  <a:srgbClr val="536774"/>
                </a:solidFill>
                <a:latin typeface="DejaVu Sans"/>
                <a:ea typeface="DejaVu Sans"/>
                <a:cs typeface="DejaVu Sans"/>
              </a:rPr>
              <a:t>Oct–Dec 2025 · Illustrative 10% capacity · One fixed history addition, with no parameter search</a:t>
            </a:r>
          </a:p>
        </p:txBody>
      </p:sp>
      <p:sp>
        <p:nvSpPr>
          <p:cNvPr id="6" name="">
            <a:extLst xmlns:a="http://schemas.openxmlformats.org/drawingml/2006/main">
              <a:ext uri="{FF2B5EF4-FFF2-40B4-BE49-F238E27FC236}">
                <a16:creationId xmlns:a16="http://schemas.microsoft.com/office/drawing/2014/main" id="{5CB3D6DC-6415-4295-A4FD-9B221A6F2AEE}"/>
              </a:ext>
            </a:extLst>
          </p:cNvPr>
          <p:cNvSpPr>
            <a:spLocks xmlns:a="http://schemas.openxmlformats.org/drawingml/2006/main" noGrp="1"/>
          </p:cNvSpPr>
          <p:nvPr/>
        </p:nvSpPr>
        <p:spPr>
          <a:xfrm xmlns:a="http://schemas.openxmlformats.org/drawingml/2006/main">
            <a:off x="609600" y="1714500"/>
            <a:ext cx="271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BA782A"/>
                </a:solidFill>
                <a:latin typeface="DejaVu Sans"/>
                <a:ea typeface="DejaVu Sans"/>
                <a:cs typeface="DejaVu Sans"/>
              </a:defRPr>
            </a:pPr>
            <a:r>
              <a:rPr sz="3900" b="1">
                <a:solidFill>
                  <a:srgbClr val="BA782A"/>
                </a:solidFill>
                <a:latin typeface="DejaVu Sans"/>
                <a:ea typeface="DejaVu Sans"/>
                <a:cs typeface="DejaVu Sans"/>
              </a:rPr>
              <a:t>27.47%</a:t>
            </a:r>
          </a:p>
        </p:txBody>
      </p:sp>
      <p:sp>
        <p:nvSpPr>
          <p:cNvPr id="7" name="">
            <a:extLst xmlns:a="http://schemas.openxmlformats.org/drawingml/2006/main">
              <a:ext uri="{FF2B5EF4-FFF2-40B4-BE49-F238E27FC236}">
                <a16:creationId xmlns:a16="http://schemas.microsoft.com/office/drawing/2014/main" id="{69647A53-114F-4472-B9D4-EDAA32D8E244}"/>
              </a:ext>
            </a:extLst>
          </p:cNvPr>
          <p:cNvSpPr>
            <a:spLocks xmlns:a="http://schemas.openxmlformats.org/drawingml/2006/main" noGrp="1"/>
          </p:cNvSpPr>
          <p:nvPr/>
        </p:nvSpPr>
        <p:spPr>
          <a:xfrm xmlns:a="http://schemas.openxmlformats.org/drawingml/2006/main">
            <a:off x="609600" y="2619375"/>
            <a:ext cx="2695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2D40"/>
                </a:solidFill>
                <a:latin typeface="DejaVu Sans"/>
                <a:ea typeface="DejaVu Sans"/>
                <a:cs typeface="DejaVu Sans"/>
              </a:defRPr>
            </a:pPr>
            <a:r>
              <a:rPr sz="1875" b="1">
                <a:solidFill>
                  <a:srgbClr val="172D40"/>
                </a:solidFill>
                <a:latin typeface="DejaVu Sans"/>
                <a:ea typeface="DejaVu Sans"/>
                <a:cs typeface="DejaVu Sans"/>
              </a:rPr>
              <a:t>Comparable core</a:t>
            </a:r>
          </a:p>
        </p:txBody>
      </p:sp>
      <p:sp>
        <p:nvSpPr>
          <p:cNvPr id="8" name="">
            <a:extLst xmlns:a="http://schemas.openxmlformats.org/drawingml/2006/main">
              <a:ext uri="{FF2B5EF4-FFF2-40B4-BE49-F238E27FC236}">
                <a16:creationId xmlns:a16="http://schemas.microsoft.com/office/drawing/2014/main" id="{17205EE4-4BE7-42D9-ABE0-23DA2957A8CD}"/>
              </a:ext>
            </a:extLst>
          </p:cNvPr>
          <p:cNvSpPr>
            <a:spLocks xmlns:a="http://schemas.openxmlformats.org/drawingml/2006/main" noGrp="1"/>
          </p:cNvSpPr>
          <p:nvPr/>
        </p:nvSpPr>
        <p:spPr>
          <a:xfrm xmlns:a="http://schemas.openxmlformats.org/drawingml/2006/main">
            <a:off x="3505200" y="1714500"/>
            <a:ext cx="271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85F91"/>
                </a:solidFill>
                <a:latin typeface="DejaVu Sans"/>
                <a:ea typeface="DejaVu Sans"/>
                <a:cs typeface="DejaVu Sans"/>
              </a:defRPr>
            </a:pPr>
            <a:r>
              <a:rPr sz="3900" b="1">
                <a:solidFill>
                  <a:srgbClr val="185F91"/>
                </a:solidFill>
                <a:latin typeface="DejaVu Sans"/>
                <a:ea typeface="DejaVu Sans"/>
                <a:cs typeface="DejaVu Sans"/>
              </a:rPr>
              <a:t>28.46%</a:t>
            </a:r>
          </a:p>
        </p:txBody>
      </p:sp>
      <p:sp>
        <p:nvSpPr>
          <p:cNvPr id="9" name="">
            <a:extLst xmlns:a="http://schemas.openxmlformats.org/drawingml/2006/main">
              <a:ext uri="{FF2B5EF4-FFF2-40B4-BE49-F238E27FC236}">
                <a16:creationId xmlns:a16="http://schemas.microsoft.com/office/drawing/2014/main" id="{8C8448FC-C9A2-4EC7-9A04-C961AF17B783}"/>
              </a:ext>
            </a:extLst>
          </p:cNvPr>
          <p:cNvSpPr>
            <a:spLocks xmlns:a="http://schemas.openxmlformats.org/drawingml/2006/main" noGrp="1"/>
          </p:cNvSpPr>
          <p:nvPr/>
        </p:nvSpPr>
        <p:spPr>
          <a:xfrm xmlns:a="http://schemas.openxmlformats.org/drawingml/2006/main">
            <a:off x="3505200" y="2619375"/>
            <a:ext cx="2695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2D40"/>
                </a:solidFill>
                <a:latin typeface="DejaVu Sans"/>
                <a:ea typeface="DejaVu Sans"/>
                <a:cs typeface="DejaVu Sans"/>
              </a:defRPr>
            </a:pPr>
            <a:r>
              <a:rPr sz="1875" b="1">
                <a:solidFill>
                  <a:srgbClr val="172D40"/>
                </a:solidFill>
                <a:latin typeface="DejaVu Sans"/>
                <a:ea typeface="DejaVu Sans"/>
                <a:cs typeface="DejaVu Sans"/>
              </a:rPr>
              <a:t>Core + history</a:t>
            </a:r>
          </a:p>
        </p:txBody>
      </p:sp>
      <p:sp>
        <p:nvSpPr>
          <p:cNvPr id="10" name="">
            <a:extLst xmlns:a="http://schemas.openxmlformats.org/drawingml/2006/main">
              <a:ext uri="{FF2B5EF4-FFF2-40B4-BE49-F238E27FC236}">
                <a16:creationId xmlns:a16="http://schemas.microsoft.com/office/drawing/2014/main" id="{78D8B052-944A-414E-96A3-ECE01CB87E53}"/>
              </a:ext>
            </a:extLst>
          </p:cNvPr>
          <p:cNvSpPr>
            <a:spLocks xmlns:a="http://schemas.openxmlformats.org/drawingml/2006/main" noGrp="1"/>
          </p:cNvSpPr>
          <p:nvPr/>
        </p:nvSpPr>
        <p:spPr>
          <a:xfrm xmlns:a="http://schemas.openxmlformats.org/drawingml/2006/main">
            <a:off x="609600" y="3295650"/>
            <a:ext cx="5381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D40"/>
                </a:solidFill>
                <a:latin typeface="DejaVu Sans"/>
                <a:ea typeface="DejaVu Sans"/>
                <a:cs typeface="DejaVu Sans"/>
              </a:defRPr>
            </a:pPr>
            <a:r>
              <a:rPr sz="1800" b="0">
                <a:solidFill>
                  <a:srgbClr val="172D40"/>
                </a:solidFill>
                <a:latin typeface="DejaVu Sans"/>
                <a:ea typeface="DejaVu Sans"/>
                <a:cs typeface="DejaVu Sans"/>
              </a:rPr>
              <a:t>Same fitting rows for both models:</a:t>
            </a:r>
          </a:p>
          <a:p xmlns:a="http://schemas.openxmlformats.org/drawingml/2006/main">
            <a:pPr>
              <a:defRPr sz="1800" b="0">
                <a:solidFill>
                  <a:srgbClr val="172D40"/>
                </a:solidFill>
                <a:latin typeface="DejaVu Sans"/>
                <a:ea typeface="DejaVu Sans"/>
                <a:cs typeface="DejaVu Sans"/>
              </a:defRPr>
            </a:pPr>
            <a:r>
              <a:rPr sz="1800" b="0">
                <a:solidFill>
                  <a:srgbClr val="172D40"/>
                </a:solidFill>
                <a:latin typeface="DejaVu Sans"/>
                <a:ea typeface="DejaVu Sans"/>
                <a:cs typeface="DejaVu Sans"/>
              </a:rPr>
              <a:t>Jan–Feb 2024 omitted where history is unavailable.</a:t>
            </a:r>
          </a:p>
        </p:txBody>
      </p:sp>
      <p:sp>
        <p:nvSpPr>
          <p:cNvPr id="11" name="">
            <a:extLst xmlns:a="http://schemas.openxmlformats.org/drawingml/2006/main">
              <a:ext uri="{FF2B5EF4-FFF2-40B4-BE49-F238E27FC236}">
                <a16:creationId xmlns:a16="http://schemas.microsoft.com/office/drawing/2014/main" id="{17B74AD7-D7E3-426A-8F7F-480D02871D47}"/>
              </a:ext>
            </a:extLst>
          </p:cNvPr>
          <p:cNvSpPr>
            <a:spLocks xmlns:a="http://schemas.openxmlformats.org/drawingml/2006/main" noGrp="1"/>
          </p:cNvSpPr>
          <p:nvPr/>
        </p:nvSpPr>
        <p:spPr>
          <a:xfrm xmlns:a="http://schemas.openxmlformats.org/drawingml/2006/main">
            <a:off x="609600" y="4495800"/>
            <a:ext cx="5381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774"/>
                </a:solidFill>
                <a:latin typeface="DejaVu Sans"/>
                <a:ea typeface="DejaVu Sans"/>
                <a:cs typeface="DejaVu Sans"/>
              </a:defRPr>
            </a:pPr>
            <a:r>
              <a:rPr sz="1650" b="0">
                <a:solidFill>
                  <a:srgbClr val="536774"/>
                </a:solidFill>
                <a:latin typeface="DejaVu Sans"/>
                <a:ea typeface="DejaVu Sans"/>
                <a:cs typeface="DejaVu Sans"/>
              </a:rPr>
              <a:t>Slide 4 core: 27.30%, using all eligible fitting months.</a:t>
            </a:r>
          </a:p>
        </p:txBody>
      </p:sp>
      <p:sp>
        <p:nvSpPr>
          <p:cNvPr id="12" name="">
            <a:extLst xmlns:a="http://schemas.openxmlformats.org/drawingml/2006/main">
              <a:ext uri="{FF2B5EF4-FFF2-40B4-BE49-F238E27FC236}">
                <a16:creationId xmlns:a16="http://schemas.microsoft.com/office/drawing/2014/main" id="{CFD5C049-1119-4FD5-A724-3521D355257C}"/>
              </a:ext>
            </a:extLst>
          </p:cNvPr>
          <p:cNvSpPr>
            <a:spLocks xmlns:a="http://schemas.openxmlformats.org/drawingml/2006/main" noGrp="1"/>
          </p:cNvSpPr>
          <p:nvPr/>
        </p:nvSpPr>
        <p:spPr>
          <a:xfrm xmlns:a="http://schemas.openxmlformats.org/drawingml/2006/main">
            <a:off x="6591300" y="1762125"/>
            <a:ext cx="4991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5F91"/>
                </a:solidFill>
                <a:latin typeface="DejaVu Sans"/>
                <a:ea typeface="DejaVu Sans"/>
                <a:cs typeface="DejaVu Sans"/>
              </a:defRPr>
            </a:pPr>
            <a:r>
              <a:rPr sz="2175" b="1">
                <a:solidFill>
                  <a:srgbClr val="185F91"/>
                </a:solidFill>
                <a:latin typeface="DejaVu Sans"/>
                <a:ea typeface="DejaVu Sans"/>
                <a:cs typeface="DejaVu Sans"/>
              </a:rPr>
              <a:t>+0.99 percentage points</a:t>
            </a:r>
          </a:p>
        </p:txBody>
      </p:sp>
      <p:sp>
        <p:nvSpPr>
          <p:cNvPr id="13" name="">
            <a:extLst xmlns:a="http://schemas.openxmlformats.org/drawingml/2006/main">
              <a:ext uri="{FF2B5EF4-FFF2-40B4-BE49-F238E27FC236}">
                <a16:creationId xmlns:a16="http://schemas.microsoft.com/office/drawing/2014/main" id="{073AB1DF-A6D3-44BF-8A07-A4356FCE9283}"/>
              </a:ext>
            </a:extLst>
          </p:cNvPr>
          <p:cNvSpPr>
            <a:spLocks xmlns:a="http://schemas.openxmlformats.org/drawingml/2006/main" noGrp="1"/>
          </p:cNvSpPr>
          <p:nvPr/>
        </p:nvSpPr>
        <p:spPr>
          <a:xfrm xmlns:a="http://schemas.openxmlformats.org/drawingml/2006/main">
            <a:off x="6591300" y="2352675"/>
            <a:ext cx="4991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D40"/>
                </a:solidFill>
                <a:latin typeface="DejaVu Sans"/>
                <a:ea typeface="DejaVu Sans"/>
                <a:cs typeface="DejaVu Sans"/>
              </a:defRPr>
            </a:pPr>
            <a:r>
              <a:rPr sz="1575" b="0">
                <a:solidFill>
                  <a:srgbClr val="172D40"/>
                </a:solidFill>
                <a:latin typeface="DejaVu Sans"/>
                <a:ea typeface="DejaVu Sans"/>
                <a:cs typeface="DejaVu Sans"/>
              </a:rPr>
              <a:t>Conditional 95% interval on the difference</a:t>
            </a:r>
          </a:p>
        </p:txBody>
      </p:sp>
      <p:graphicFrame>
        <p:nvGraphicFramePr>
          <p:cNvPr id="31" name="Chart"/>
          <p:cNvGraphicFramePr/>
          <p:nvPr/>
        </p:nvGraphicFramePr>
        <p:xfrm>
          <a:off xmlns:a="http://schemas.openxmlformats.org/drawingml/2006/main" x="6591300" y="3095625"/>
          <a:ext xmlns:a="http://schemas.openxmlformats.org/drawingml/2006/main" cx="4991100" cy="1438275"/>
        </p:xfrm>
        <a:graphic xmlns:a="http://schemas.openxmlformats.org/drawingml/2006/main">
          <a:graphicData uri="http://schemas.openxmlformats.org/drawingml/2006/chart">
            <c:chart xmlns:r="http://schemas.openxmlformats.org/officeDocument/2006/relationships" xmlns:c="http://schemas.openxmlformats.org/drawingml/2006/chart" r:id="R5a4002767aa34bff"/>
          </a:graphicData>
        </a:graphic>
      </p:graphicFrame>
      <p:sp>
        <p:nvSpPr>
          <p:cNvPr id="15" name="">
            <a:extLst xmlns:a="http://schemas.openxmlformats.org/drawingml/2006/main">
              <a:ext uri="{FF2B5EF4-FFF2-40B4-BE49-F238E27FC236}">
                <a16:creationId xmlns:a16="http://schemas.microsoft.com/office/drawing/2014/main" id="{7E9B4878-7117-4B7D-8A0D-ED3F1BA10EBC}"/>
              </a:ext>
            </a:extLst>
          </p:cNvPr>
          <p:cNvSpPr>
            <a:spLocks xmlns:a="http://schemas.openxmlformats.org/drawingml/2006/main" noGrp="1"/>
          </p:cNvSpPr>
          <p:nvPr/>
        </p:nvSpPr>
        <p:spPr>
          <a:xfrm xmlns:a="http://schemas.openxmlformats.org/drawingml/2006/main">
            <a:off x="6591300" y="4638675"/>
            <a:ext cx="4991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2D40"/>
                </a:solidFill>
                <a:latin typeface="DejaVu Sans"/>
                <a:ea typeface="DejaVu Sans"/>
                <a:cs typeface="DejaVu Sans"/>
              </a:defRPr>
            </a:pPr>
            <a:r>
              <a:rPr sz="1950" b="1">
                <a:solidFill>
                  <a:srgbClr val="172D40"/>
                </a:solidFill>
                <a:latin typeface="DejaVu Sans"/>
                <a:ea typeface="DejaVu Sans"/>
                <a:cs typeface="DejaVu Sans"/>
              </a:rPr>
              <a:t>−0.82 to +2.30 points</a:t>
            </a:r>
          </a:p>
        </p:txBody>
      </p:sp>
      <p:sp>
        <p:nvSpPr>
          <p:cNvPr id="16" name="">
            <a:extLst xmlns:a="http://schemas.openxmlformats.org/drawingml/2006/main">
              <a:ext uri="{FF2B5EF4-FFF2-40B4-BE49-F238E27FC236}">
                <a16:creationId xmlns:a16="http://schemas.microsoft.com/office/drawing/2014/main" id="{37CD57F2-68BA-4D6A-AFB8-50144954023E}"/>
              </a:ext>
            </a:extLst>
          </p:cNvPr>
          <p:cNvSpPr>
            <a:spLocks xmlns:a="http://schemas.openxmlformats.org/drawingml/2006/main" noGrp="1"/>
          </p:cNvSpPr>
          <p:nvPr/>
        </p:nvSpPr>
        <p:spPr>
          <a:xfrm xmlns:a="http://schemas.openxmlformats.org/drawingml/2006/main">
            <a:off x="609600" y="5457825"/>
            <a:ext cx="10972800" cy="571500"/>
          </a:xfrm>
          <a:prstGeom xmlns:a="http://schemas.openxmlformats.org/drawingml/2006/main" prst="rect">
            <a:avLst/>
          </a:prstGeom>
          <a:solidFill xmlns:a="http://schemas.openxmlformats.org/drawingml/2006/main">
            <a:srgbClr val="EFF5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E822C98-47C5-479F-954B-4E6FC82CDEBD}"/>
              </a:ext>
            </a:extLst>
          </p:cNvPr>
          <p:cNvSpPr>
            <a:spLocks xmlns:a="http://schemas.openxmlformats.org/drawingml/2006/main" noGrp="1"/>
          </p:cNvSpPr>
          <p:nvPr/>
        </p:nvSpPr>
        <p:spPr>
          <a:xfrm xmlns:a="http://schemas.openxmlformats.org/drawingml/2006/main">
            <a:off x="800100" y="5591175"/>
            <a:ext cx="10591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5F91"/>
                </a:solidFill>
                <a:latin typeface="DejaVu Sans"/>
                <a:ea typeface="DejaVu Sans"/>
                <a:cs typeface="DejaVu Sans"/>
              </a:defRPr>
            </a:pPr>
            <a:r>
              <a:rPr sz="1875" b="1">
                <a:solidFill>
                  <a:srgbClr val="185F91"/>
                </a:solidFill>
                <a:latin typeface="DejaVu Sans"/>
                <a:ea typeface="DejaVu Sans"/>
                <a:cs typeface="DejaVu Sans"/>
              </a:rPr>
              <a:t>History deserves fresh evaluation. It is not in the delivered model.</a:t>
            </a:r>
          </a:p>
        </p:txBody>
      </p:sp>
    </p:spTree>
    <p:extLst>
      <p:ext uri="{BB962C8B-B14F-4D97-AF65-F5344CB8AC3E}">
        <p14:creationId xmlns:p14="http://schemas.microsoft.com/office/powerpoint/2010/main" val="490743507"/>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21" name="">
            <a:extLst>
              <a:ext uri="{FF2B5EF4-FFF2-40B4-BE49-F238E27FC236}">
                <ns2:creationId id="{953DB91F-EC41-49AF-B2DE-A86E08ED7717}"/>
              </a:ext>
            </a:extLst>
          </p:cNvPr>
          <p:cNvSpPr>
            <a:spLocks noGrp="1"/>
          </p:cNvSpPr>
          <p:nvPr/>
        </p:nvSpPr>
        <p:spPr>
          <a:xfrm>
            <a:off x="609600" y="200025"/>
            <a:ext cx="10287000" cy="228600"/>
          </a:xfrm>
          <a:prstGeom prst="rect">
            <a:avLst/>
          </a:prstGeom>
          <a:noFill/>
          <a:ln w="0">
            <a:noFill/>
          </a:ln>
        </p:spPr>
        <p:txBody>
          <a:bodyPr>
            <a:noAutofit/>
          </a:bodyPr>
          <a:lstStyle/>
          <a:p>
            <a:pPr>
              <a:defRPr sz="1050" b="1">
                <a:solidFill>
                  <a:srgbClr val="185F91"/>
                </a:solidFill>
                <a:latin typeface="DejaVu Sans"/>
                <a:ea typeface="DejaVu Sans"/>
                <a:cs typeface="DejaVu Sans"/>
              </a:defRPr>
            </a:pPr>
            <a:r>
              <a:rPr sz="1050" b="1">
                <a:solidFill>
                  <a:srgbClr val="185F91"/>
                </a:solidFill>
                <a:latin typeface="DejaVu Sans"/>
                <a:ea typeface="DejaVu Sans"/>
                <a:cs typeface="DejaVu Sans"/>
              </a:rPr>
              <a:t>RECOMMENDATION TO COMMERCIAL</a:t>
            </a:r>
          </a:p>
        </p:txBody>
      </p:sp>
      <p:sp>
        <p:nvSpPr>
          <p:cNvPr id="2" name="">
            <a:extLst>
              <a:ext uri="{FF2B5EF4-FFF2-40B4-BE49-F238E27FC236}">
                <ns2:creationId id="{200E6FCE-9B50-4194-B5BB-C643F221C749}"/>
              </a:ext>
            </a:extLst>
          </p:cNvPr>
          <p:cNvSpPr>
            <a:spLocks noGrp="1"/>
          </p:cNvSpPr>
          <p:nvPr/>
        </p:nvSpPr>
        <p:spPr>
          <a:xfrm>
            <a:off x="10915650" y="190500"/>
            <a:ext cx="666750" cy="266700"/>
          </a:xfrm>
          <a:prstGeom prst="rect">
            <a:avLst/>
          </a:prstGeom>
          <a:noFill/>
          <a:ln w="0">
            <a:noFill/>
          </a:ln>
        </p:spPr>
        <p:txBody>
          <a:bodyPr>
            <a:noAutofit/>
          </a:bodyPr>
          <a:lstStyle/>
          <a:p>
            <a:pPr>
              <a:defRPr sz="1200" b="1">
                <a:solidFill>
                  <a:srgbClr val="536774"/>
                </a:solidFill>
                <a:latin typeface="DejaVu Sans"/>
                <a:ea typeface="DejaVu Sans"/>
                <a:cs typeface="DejaVu Sans"/>
              </a:defRPr>
            </a:pPr>
            <a:r>
              <a:rPr sz="1200" b="1">
                <a:solidFill>
                  <a:srgbClr val="536774"/>
                </a:solidFill>
                <a:latin typeface="DejaVu Sans"/>
                <a:ea typeface="DejaVu Sans"/>
                <a:cs typeface="DejaVu Sans"/>
              </a:rPr>
              <a:t>06</a:t>
            </a:r>
          </a:p>
        </p:txBody>
      </p:sp>
      <p:sp>
        <p:nvSpPr>
          <p:cNvPr id="3" name="">
            <a:extLst>
              <a:ext uri="{FF2B5EF4-FFF2-40B4-BE49-F238E27FC236}">
                <ns2:creationId id="{FB93FF93-E505-4D46-9607-909AECF90CEC}"/>
              </a:ext>
            </a:extLst>
          </p:cNvPr>
          <p:cNvSpPr>
            <a:spLocks noGrp="1"/>
          </p:cNvSpPr>
          <p:nvPr/>
        </p:nvSpPr>
        <p:spPr>
          <a:xfrm>
            <a:off x="609600" y="590550"/>
            <a:ext cx="10972800" cy="990600"/>
          </a:xfrm>
          <a:prstGeom prst="rect">
            <a:avLst/>
          </a:prstGeom>
          <a:noFill/>
          <a:ln w="0">
            <a:noFill/>
          </a:ln>
        </p:spPr>
        <p:txBody>
          <a:bodyPr>
            <a:noAutofit/>
          </a:bodyPr>
          <a:lstStyle/>
          <a:p>
            <a:pPr>
              <a:defRPr sz="2850" b="1">
                <a:solidFill>
                  <a:srgbClr val="172D40"/>
                </a:solidFill>
                <a:latin typeface="DejaVu Sans"/>
                <a:ea typeface="DejaVu Sans"/>
                <a:cs typeface="DejaVu Sans"/>
              </a:defRPr>
            </a:pPr>
            <a:r>
              <a:rPr sz="2850" b="1">
                <a:solidFill>
                  <a:srgbClr val="172D40"/>
                </a:solidFill>
                <a:latin typeface="DejaVu Sans"/>
                <a:ea typeface="DejaVu Sans"/>
                <a:cs typeface="DejaVu Sans"/>
              </a:rPr>
              <a:t>ITERATE: validate a simple prioritisation policy</a:t>
            </a:r>
          </a:p>
        </p:txBody>
      </p:sp>
      <p:sp>
        <p:nvSpPr>
          <p:cNvPr id="4" name="">
            <a:extLst>
              <a:ext uri="{FF2B5EF4-FFF2-40B4-BE49-F238E27FC236}">
                <ns2:creationId id="{700D4F91-ADA4-45C2-AEA6-92DBDF70D9D7}"/>
              </a:ext>
            </a:extLst>
          </p:cNvPr>
          <p:cNvSpPr>
            <a:spLocks noGrp="1"/>
          </p:cNvSpPr>
          <p:nvPr/>
        </p:nvSpPr>
        <p:spPr>
          <a:xfrm>
            <a:off x="609600" y="6191250"/>
            <a:ext cx="10972800" cy="0"/>
          </a:xfrm>
          <a:prstGeom prst="line">
            <a:avLst/>
          </a:prstGeom>
          <a:noFill/>
          <a:ln w="9525">
            <a:solidFill>
              <a:srgbClr val="DCE5EB"/>
            </a:solidFill>
            <a:prstDash val="solid"/>
          </a:ln>
        </p:spPr>
      </p:sp>
      <p:sp>
        <p:nvSpPr>
          <p:cNvPr id="5" name="">
            <a:extLst>
              <a:ext uri="{FF2B5EF4-FFF2-40B4-BE49-F238E27FC236}">
                <ns2:creationId id="{D94054EB-08EB-4AEB-895B-6F4CCE852329}"/>
              </a:ext>
            </a:extLst>
          </p:cNvPr>
          <p:cNvSpPr>
            <a:spLocks noGrp="1"/>
          </p:cNvSpPr>
          <p:nvPr/>
        </p:nvSpPr>
        <p:spPr>
          <a:xfrm>
            <a:off x="609600" y="6334125"/>
            <a:ext cx="10972800" cy="323850"/>
          </a:xfrm>
          <a:prstGeom prst="rect">
            <a:avLst/>
          </a:prstGeom>
          <a:noFill/>
          <a:ln w="0">
            <a:noFill/>
          </a:ln>
        </p:spPr>
        <p:txBody>
          <a:bodyPr>
            <a:noAutofit/>
          </a:bodyPr>
          <a:lstStyle/>
          <a:p>
            <a:pPr>
              <a:defRPr sz="900" b="0">
                <a:solidFill>
                  <a:srgbClr val="536774"/>
                </a:solidFill>
                <a:latin typeface="DejaVu Sans"/>
                <a:ea typeface="DejaVu Sans"/>
                <a:cs typeface="DejaVu Sans"/>
              </a:defRPr>
            </a:pPr>
            <a:r>
              <a:rPr sz="900" b="0">
                <a:solidFill>
                  <a:srgbClr val="536774"/>
                </a:solidFill>
                <a:latin typeface="DejaVu Sans"/>
                <a:ea typeface="DejaVu Sans"/>
                <a:cs typeface="DejaVu Sans"/>
              </a:rPr>
              <a:t>Decision criteria are proposed, not results · Capacity, costs, minimum value and sample size must be agreed</a:t>
            </a:r>
          </a:p>
        </p:txBody>
      </p:sp>
      <p:sp>
        <p:nvSpPr>
          <p:cNvPr id="6" name="">
            <a:extLst>
              <a:ext uri="{FF2B5EF4-FFF2-40B4-BE49-F238E27FC236}">
                <ns2:creationId id="{98C9752C-EA72-49DE-9375-0762B0320917}"/>
              </a:ext>
            </a:extLst>
          </p:cNvPr>
          <p:cNvSpPr>
            <a:spLocks noGrp="1"/>
          </p:cNvSpPr>
          <p:nvPr/>
        </p:nvSpPr>
        <p:spPr>
          <a:xfrm>
            <a:off x="609600" y="1543050"/>
            <a:ext cx="10972800" cy="619125"/>
          </a:xfrm>
          <a:prstGeom prst="rect">
            <a:avLst/>
          </a:prstGeom>
          <a:noFill/>
          <a:ln w="0">
            <a:noFill/>
          </a:ln>
        </p:spPr>
        <p:txBody>
          <a:bodyPr>
            <a:noAutofit/>
          </a:bodyPr>
          <a:lstStyle/>
          <a:p>
            <a:pPr>
              <a:defRPr sz="2250" b="1">
                <a:solidFill>
                  <a:srgbClr val="185F91"/>
                </a:solidFill>
                <a:latin typeface="DejaVu Sans"/>
                <a:ea typeface="DejaVu Sans"/>
                <a:cs typeface="DejaVu Sans"/>
              </a:defRPr>
            </a:pPr>
            <a:r>
              <a:rPr sz="2250" b="1">
                <a:solidFill>
                  <a:srgbClr val="185F91"/>
                </a:solidFill>
                <a:latin typeface="DejaVu Sans"/>
                <a:ea typeface="DejaVu Sans"/>
                <a:cs typeface="DejaVu Sans"/>
              </a:rPr>
              <a:t>Fund a bounded validation; hold model complexity fixed.</a:t>
            </a:r>
          </a:p>
        </p:txBody>
      </p:sp>
      <p:sp>
        <p:nvSpPr>
          <p:cNvPr id="7" name="">
            <a:extLst>
              <a:ext uri="{FF2B5EF4-FFF2-40B4-BE49-F238E27FC236}">
                <ns2:creationId id="{DF769222-5CD1-476D-AE9C-C18F8EF8EBAB}"/>
              </a:ext>
            </a:extLst>
          </p:cNvPr>
          <p:cNvSpPr>
            <a:spLocks noGrp="1"/>
          </p:cNvSpPr>
          <p:nvPr/>
        </p:nvSpPr>
        <p:spPr>
          <a:xfrm>
            <a:off x="609600" y="2400300"/>
            <a:ext cx="3390900" cy="0"/>
          </a:xfrm>
          <a:prstGeom prst="line">
            <a:avLst/>
          </a:prstGeom>
          <a:noFill/>
          <a:ln w="19050">
            <a:solidFill>
              <a:srgbClr val="DCE5EB"/>
            </a:solidFill>
            <a:prstDash val="solid"/>
          </a:ln>
        </p:spPr>
      </p:sp>
      <p:sp>
        <p:nvSpPr>
          <p:cNvPr id="8" name="">
            <a:extLst>
              <a:ext uri="{FF2B5EF4-FFF2-40B4-BE49-F238E27FC236}">
                <ns2:creationId id="{03C582B0-DD8D-4E4E-B808-E192CCF10847}"/>
              </a:ext>
            </a:extLst>
          </p:cNvPr>
          <p:cNvSpPr>
            <a:spLocks noGrp="1"/>
          </p:cNvSpPr>
          <p:nvPr/>
        </p:nvSpPr>
        <p:spPr>
          <a:xfrm>
            <a:off x="609600" y="2581275"/>
            <a:ext cx="3390900" cy="352425"/>
          </a:xfrm>
          <a:prstGeom prst="rect">
            <a:avLst/>
          </a:prstGeom>
          <a:noFill/>
          <a:ln w="0">
            <a:noFill/>
          </a:ln>
        </p:spPr>
        <p:txBody>
          <a:bodyPr>
            <a:noAutofit/>
          </a:bodyPr>
          <a:lstStyle/>
          <a:p>
            <a:pPr>
              <a:defRPr sz="1800" b="1">
                <a:solidFill>
                  <a:srgbClr val="185F91"/>
                </a:solidFill>
                <a:latin typeface="DejaVu Sans"/>
                <a:ea typeface="DejaVu Sans"/>
                <a:cs typeface="DejaVu Sans"/>
              </a:defRPr>
            </a:pPr>
            <a:r>
              <a:rPr sz="1800" b="1">
                <a:solidFill>
                  <a:srgbClr val="185F91"/>
                </a:solidFill>
                <a:latin typeface="DejaVu Sans"/>
                <a:ea typeface="DejaVu Sans"/>
                <a:cs typeface="DejaVu Sans"/>
              </a:rPr>
              <a:t>SCALE</a:t>
            </a:r>
          </a:p>
        </p:txBody>
      </p:sp>
      <p:sp>
        <p:nvSpPr>
          <p:cNvPr id="9" name="">
            <a:extLst>
              <a:ext uri="{FF2B5EF4-FFF2-40B4-BE49-F238E27FC236}">
                <ns2:creationId id="{9CAAA7DB-F836-4FC6-ABF5-604DEA84A9DA}"/>
              </a:ext>
            </a:extLst>
          </p:cNvPr>
          <p:cNvSpPr>
            <a:spLocks noGrp="1"/>
          </p:cNvSpPr>
          <p:nvPr/>
        </p:nvSpPr>
        <p:spPr>
          <a:xfrm>
            <a:off x="609600" y="3086100"/>
            <a:ext cx="3390900" cy="1190625"/>
          </a:xfrm>
          <a:prstGeom prst="rect">
            <a:avLst/>
          </a:prstGeom>
          <a:noFill/>
          <a:ln w="0">
            <a:noFill/>
          </a:ln>
        </p:spPr>
        <p:txBody>
          <a:bodyPr>
            <a:noAutofit/>
          </a:bodyPr>
          <a:lstStyle/>
          <a:p>
            <a:pPr>
              <a:defRPr sz="1800" b="0">
                <a:solidFill>
                  <a:srgbClr val="172D40"/>
                </a:solidFill>
                <a:latin typeface="DejaVu Sans"/>
                <a:ea typeface="DejaVu Sans"/>
                <a:cs typeface="DejaVu Sans"/>
              </a:defRPr>
            </a:pPr>
            <a:r>
              <a:rPr sz="1800" b="0">
                <a:solidFill>
                  <a:srgbClr val="172D40"/>
                </a:solidFill>
                <a:latin typeface="DejaVu Sans"/>
                <a:ea typeface="DejaVu Sans"/>
                <a:cs typeface="DejaVu Sans"/>
              </a:rPr>
              <a:t>Validated data and prospective incremental net value at actual capacity and cost.</a:t>
            </a:r>
          </a:p>
        </p:txBody>
      </p:sp>
      <p:sp>
        <p:nvSpPr>
          <p:cNvPr id="10" name="">
            <a:extLst>
              <a:ext uri="{FF2B5EF4-FFF2-40B4-BE49-F238E27FC236}">
                <ns2:creationId id="{56A37B4A-CF94-4B41-A9EB-4103C272FC0A}"/>
              </a:ext>
            </a:extLst>
          </p:cNvPr>
          <p:cNvSpPr>
            <a:spLocks noGrp="1"/>
          </p:cNvSpPr>
          <p:nvPr/>
        </p:nvSpPr>
        <p:spPr>
          <a:xfrm>
            <a:off x="4362450" y="2400300"/>
            <a:ext cx="3390900" cy="0"/>
          </a:xfrm>
          <a:prstGeom prst="line">
            <a:avLst/>
          </a:prstGeom>
          <a:noFill/>
          <a:ln w="19050">
            <a:solidFill>
              <a:srgbClr val="DCE5EB"/>
            </a:solidFill>
            <a:prstDash val="solid"/>
          </a:ln>
        </p:spPr>
      </p:sp>
      <p:sp>
        <p:nvSpPr>
          <p:cNvPr id="11" name="">
            <a:extLst>
              <a:ext uri="{FF2B5EF4-FFF2-40B4-BE49-F238E27FC236}">
                <ns2:creationId id="{B71ABA50-F9A4-4395-8CC5-F6B61FF09A26}"/>
              </a:ext>
            </a:extLst>
          </p:cNvPr>
          <p:cNvSpPr>
            <a:spLocks noGrp="1"/>
          </p:cNvSpPr>
          <p:nvPr/>
        </p:nvSpPr>
        <p:spPr>
          <a:xfrm>
            <a:off x="4362450" y="2581275"/>
            <a:ext cx="3390900" cy="352425"/>
          </a:xfrm>
          <a:prstGeom prst="rect">
            <a:avLst/>
          </a:prstGeom>
          <a:noFill/>
          <a:ln w="0">
            <a:noFill/>
          </a:ln>
        </p:spPr>
        <p:txBody>
          <a:bodyPr>
            <a:noAutofit/>
          </a:bodyPr>
          <a:lstStyle/>
          <a:p>
            <a:pPr>
              <a:defRPr sz="1800" b="1">
                <a:solidFill>
                  <a:srgbClr val="185F91"/>
                </a:solidFill>
                <a:latin typeface="DejaVu Sans"/>
                <a:ea typeface="DejaVu Sans"/>
                <a:cs typeface="DejaVu Sans"/>
              </a:defRPr>
            </a:pPr>
            <a:r>
              <a:rPr sz="1800" b="1">
                <a:solidFill>
                  <a:srgbClr val="185F91"/>
                </a:solidFill>
                <a:latin typeface="DejaVu Sans"/>
                <a:ea typeface="DejaVu Sans"/>
                <a:cs typeface="DejaVu Sans"/>
              </a:rPr>
              <a:t>SIMPLIFY</a:t>
            </a:r>
          </a:p>
        </p:txBody>
      </p:sp>
      <p:sp>
        <p:nvSpPr>
          <p:cNvPr id="12" name="">
            <a:extLst>
              <a:ext uri="{FF2B5EF4-FFF2-40B4-BE49-F238E27FC236}">
                <ns2:creationId id="{3AE2531C-39A5-484A-A37A-D93382D841C4}"/>
              </a:ext>
            </a:extLst>
          </p:cNvPr>
          <p:cNvSpPr>
            <a:spLocks noGrp="1"/>
          </p:cNvSpPr>
          <p:nvPr/>
        </p:nvSpPr>
        <p:spPr>
          <a:xfrm>
            <a:off x="4362450" y="3086100"/>
            <a:ext cx="3390900" cy="1190625"/>
          </a:xfrm>
          <a:prstGeom prst="rect">
            <a:avLst/>
          </a:prstGeom>
          <a:noFill/>
          <a:ln w="0">
            <a:noFill/>
          </a:ln>
        </p:spPr>
        <p:txBody>
          <a:bodyPr>
            <a:noAutofit/>
          </a:bodyPr>
          <a:lstStyle/>
          <a:p>
            <a:pPr>
              <a:defRPr sz="1800" b="0">
                <a:solidFill>
                  <a:srgbClr val="172D40"/>
                </a:solidFill>
                <a:latin typeface="DejaVu Sans"/>
                <a:ea typeface="DejaVu Sans"/>
                <a:cs typeface="DejaVu Sans"/>
              </a:defRPr>
            </a:pPr>
            <a:r>
              <a:rPr sz="1800" b="0">
                <a:solidFill>
                  <a:srgbClr val="172D40"/>
                </a:solidFill>
                <a:latin typeface="DejaVu Sans"/>
                <a:ea typeface="DejaVu Sans"/>
                <a:cs typeface="DejaVu Sans"/>
              </a:rPr>
              <a:t>Fewer dependencies meet the commercial need; extra inputs do not earn their cost.</a:t>
            </a:r>
          </a:p>
        </p:txBody>
      </p:sp>
      <p:sp>
        <p:nvSpPr>
          <p:cNvPr id="13" name="">
            <a:extLst>
              <a:ext uri="{FF2B5EF4-FFF2-40B4-BE49-F238E27FC236}">
                <ns2:creationId id="{31BD7DE8-37CA-4214-852D-E56B7AB276DD}"/>
              </a:ext>
            </a:extLst>
          </p:cNvPr>
          <p:cNvSpPr>
            <a:spLocks noGrp="1"/>
          </p:cNvSpPr>
          <p:nvPr/>
        </p:nvSpPr>
        <p:spPr>
          <a:xfrm>
            <a:off x="8115300" y="2400300"/>
            <a:ext cx="3467100" cy="0"/>
          </a:xfrm>
          <a:prstGeom prst="line">
            <a:avLst/>
          </a:prstGeom>
          <a:noFill/>
          <a:ln w="19050">
            <a:solidFill>
              <a:srgbClr val="DCE5EB"/>
            </a:solidFill>
            <a:prstDash val="solid"/>
          </a:ln>
        </p:spPr>
      </p:sp>
      <p:sp>
        <p:nvSpPr>
          <p:cNvPr id="14" name="">
            <a:extLst>
              <a:ext uri="{FF2B5EF4-FFF2-40B4-BE49-F238E27FC236}">
                <ns2:creationId id="{859AE763-3A0A-430F-B3C9-5E8D21EE9323}"/>
              </a:ext>
            </a:extLst>
          </p:cNvPr>
          <p:cNvSpPr>
            <a:spLocks noGrp="1"/>
          </p:cNvSpPr>
          <p:nvPr/>
        </p:nvSpPr>
        <p:spPr>
          <a:xfrm>
            <a:off x="8115300" y="2581275"/>
            <a:ext cx="3467100" cy="352425"/>
          </a:xfrm>
          <a:prstGeom prst="rect">
            <a:avLst/>
          </a:prstGeom>
          <a:noFill/>
          <a:ln w="0">
            <a:noFill/>
          </a:ln>
        </p:spPr>
        <p:txBody>
          <a:bodyPr>
            <a:noAutofit/>
          </a:bodyPr>
          <a:lstStyle/>
          <a:p>
            <a:pPr>
              <a:defRPr sz="1800" b="1">
                <a:solidFill>
                  <a:srgbClr val="185F91"/>
                </a:solidFill>
                <a:latin typeface="DejaVu Sans"/>
                <a:ea typeface="DejaVu Sans"/>
                <a:cs typeface="DejaVu Sans"/>
              </a:defRPr>
            </a:pPr>
            <a:r>
              <a:rPr sz="1800" b="1">
                <a:solidFill>
                  <a:srgbClr val="185F91"/>
                </a:solidFill>
                <a:latin typeface="DejaVu Sans"/>
                <a:ea typeface="DejaVu Sans"/>
                <a:cs typeface="DejaVu Sans"/>
              </a:rPr>
              <a:t>STOP / REDEFINE</a:t>
            </a:r>
          </a:p>
        </p:txBody>
      </p:sp>
      <p:sp>
        <p:nvSpPr>
          <p:cNvPr id="15" name="">
            <a:extLst>
              <a:ext uri="{FF2B5EF4-FFF2-40B4-BE49-F238E27FC236}">
                <ns2:creationId id="{E56290AB-C28A-4862-BA5D-AA4E5159EBB3}"/>
              </a:ext>
            </a:extLst>
          </p:cNvPr>
          <p:cNvSpPr>
            <a:spLocks noGrp="1"/>
          </p:cNvSpPr>
          <p:nvPr/>
        </p:nvSpPr>
        <p:spPr>
          <a:xfrm>
            <a:off x="8115300" y="3086100"/>
            <a:ext cx="3467100" cy="1190625"/>
          </a:xfrm>
          <a:prstGeom prst="rect">
            <a:avLst/>
          </a:prstGeom>
          <a:noFill/>
          <a:ln w="0">
            <a:noFill/>
          </a:ln>
        </p:spPr>
        <p:txBody>
          <a:bodyPr>
            <a:noAutofit/>
          </a:bodyPr>
          <a:lstStyle/>
          <a:p>
            <a:pPr>
              <a:defRPr sz="1800" b="0">
                <a:solidFill>
                  <a:srgbClr val="172D40"/>
                </a:solidFill>
                <a:latin typeface="DejaVu Sans"/>
                <a:ea typeface="DejaVu Sans"/>
                <a:cs typeface="DejaVu Sans"/>
              </a:defRPr>
            </a:pPr>
            <a:r>
              <a:rPr sz="1800" b="0">
                <a:solidFill>
                  <a:srgbClr val="172D40"/>
                </a:solidFill>
                <a:latin typeface="DejaVu Sans"/>
                <a:ea typeface="DejaVu Sans"/>
                <a:cs typeface="DejaVu Sans"/>
              </a:rPr>
              <a:t>The target cannot be reconciled, or the advantage disappears after correction.</a:t>
            </a:r>
          </a:p>
        </p:txBody>
      </p:sp>
      <p:sp>
        <p:nvSpPr>
          <p:cNvPr id="16" name="">
            <a:extLst>
              <a:ext uri="{FF2B5EF4-FFF2-40B4-BE49-F238E27FC236}">
                <ns2:creationId id="{0A83D73E-5220-43BD-A969-C32C54CCDA3B}"/>
              </a:ext>
            </a:extLst>
          </p:cNvPr>
          <p:cNvSpPr>
            <a:spLocks noGrp="1"/>
          </p:cNvSpPr>
          <p:nvPr/>
        </p:nvSpPr>
        <p:spPr>
          <a:xfrm>
            <a:off x="609600" y="4429125"/>
            <a:ext cx="10972800" cy="790575"/>
          </a:xfrm>
          <a:prstGeom prst="rect">
            <a:avLst/>
          </a:prstGeom>
          <a:solidFill>
            <a:srgbClr val="EFF5F8"/>
          </a:solidFill>
          <a:ln w="0">
            <a:noFill/>
          </a:ln>
        </p:spPr>
      </p:sp>
      <p:sp>
        <p:nvSpPr>
          <p:cNvPr id="17" name="">
            <a:extLst>
              <a:ext uri="{FF2B5EF4-FFF2-40B4-BE49-F238E27FC236}">
                <ns2:creationId id="{A4F09F35-CB4A-40BE-BDB0-7B20D10C3629}"/>
              </a:ext>
            </a:extLst>
          </p:cNvPr>
          <p:cNvSpPr>
            <a:spLocks noGrp="1"/>
          </p:cNvSpPr>
          <p:nvPr/>
        </p:nvSpPr>
        <p:spPr>
          <a:xfrm>
            <a:off x="790575" y="4543425"/>
            <a:ext cx="10610850" cy="304800"/>
          </a:xfrm>
          <a:prstGeom prst="rect">
            <a:avLst/>
          </a:prstGeom>
          <a:noFill/>
          <a:ln w="0">
            <a:noFill/>
          </a:ln>
        </p:spPr>
        <p:txBody>
          <a:bodyPr>
            <a:noAutofit/>
          </a:bodyPr>
          <a:lstStyle/>
          <a:p>
            <a:pPr>
              <a:defRPr sz="1800" b="1">
                <a:solidFill>
                  <a:srgbClr val="172D40"/>
                </a:solidFill>
                <a:latin typeface="DejaVu Sans"/>
                <a:ea typeface="DejaVu Sans"/>
                <a:cs typeface="DejaVu Sans"/>
              </a:defRPr>
            </a:pPr>
            <a:r>
              <a:rPr sz="1800" b="1">
                <a:solidFill>
                  <a:srgbClr val="172D40"/>
                </a:solidFill>
                <a:latin typeface="DejaVu Sans"/>
                <a:ea typeface="DejaVu Sans"/>
                <a:cs typeface="DejaVu Sans"/>
              </a:rPr>
              <a:t>Working expectation: 27% precision at illustrative 10% capacity.</a:t>
            </a:r>
          </a:p>
        </p:txBody>
      </p:sp>
      <p:sp>
        <p:nvSpPr>
          <p:cNvPr id="18" name="">
            <a:extLst>
              <a:ext uri="{FF2B5EF4-FFF2-40B4-BE49-F238E27FC236}">
                <ns2:creationId id="{C79DC699-1AAB-452A-8061-D35BC194BDE2}"/>
              </a:ext>
            </a:extLst>
          </p:cNvPr>
          <p:cNvSpPr>
            <a:spLocks noGrp="1"/>
          </p:cNvSpPr>
          <p:nvPr/>
        </p:nvSpPr>
        <p:spPr>
          <a:xfrm>
            <a:off x="790575" y="4933950"/>
            <a:ext cx="10610850" cy="276225"/>
          </a:xfrm>
          <a:prstGeom prst="rect">
            <a:avLst/>
          </a:prstGeom>
          <a:noFill/>
          <a:ln w="0">
            <a:noFill/>
          </a:ln>
        </p:spPr>
        <p:txBody>
          <a:bodyPr>
            <a:noAutofit/>
          </a:bodyPr>
          <a:lstStyle/>
          <a:p>
            <a:pPr>
              <a:defRPr sz="1500" b="0">
                <a:solidFill>
                  <a:srgbClr val="172D40"/>
                </a:solidFill>
                <a:latin typeface="DejaVu Sans"/>
                <a:ea typeface="DejaVu Sans"/>
                <a:cs typeface="DejaVu Sans"/>
              </a:defRPr>
            </a:pPr>
            <a:r>
              <a:rPr sz="1500" b="0">
                <a:solidFill>
                  <a:srgbClr val="172D40"/>
                </a:solidFill>
                <a:latin typeface="DejaVu Sans"/>
                <a:ea typeface="DejaVu Sans"/>
                <a:cs typeface="DejaVu Sans"/>
              </a:rPr>
              <a:t>Main risk: correcting the target or decision-time inputs removes the measured signal.</a:t>
            </a:r>
          </a:p>
        </p:txBody>
      </p:sp>
      <p:sp>
        <p:nvSpPr>
          <p:cNvPr id="19" name="">
            <a:extLst>
              <a:ext uri="{FF2B5EF4-FFF2-40B4-BE49-F238E27FC236}">
                <ns2:creationId id="{4A72EADD-E451-4442-8071-E7E6BE8F7E95}"/>
              </a:ext>
            </a:extLst>
          </p:cNvPr>
          <p:cNvSpPr>
            <a:spLocks noGrp="1"/>
          </p:cNvSpPr>
          <p:nvPr/>
        </p:nvSpPr>
        <p:spPr>
          <a:xfrm>
            <a:off x="609600" y="5419725"/>
            <a:ext cx="3429000" cy="552450"/>
          </a:xfrm>
          <a:prstGeom prst="rect">
            <a:avLst/>
          </a:prstGeom>
          <a:noFill/>
          <a:ln w="0">
            <a:noFill/>
          </a:ln>
        </p:spPr>
        <p:txBody>
          <a:bodyPr>
            <a:noAutofit/>
          </a:bodyPr>
          <a:lstStyle/>
          <a:p>
            <a:pPr>
              <a:defRPr sz="1800" b="1">
                <a:solidFill>
                  <a:srgbClr val="172D40"/>
                </a:solidFill>
                <a:latin typeface="DejaVu Sans"/>
                <a:ea typeface="DejaVu Sans"/>
                <a:cs typeface="DejaVu Sans"/>
              </a:defRPr>
            </a:pPr>
            <a:r>
              <a:rPr sz="1800" b="1">
                <a:solidFill>
                  <a:srgbClr val="172D40"/>
                </a:solidFill>
                <a:latin typeface="DejaVu Sans"/>
                <a:ea typeface="DejaVu Sans"/>
                <a:cs typeface="DejaVu Sans"/>
              </a:rPr>
              <a:t>Two weeks + one engineer</a:t>
            </a:r>
          </a:p>
        </p:txBody>
      </p:sp>
      <p:sp>
        <p:nvSpPr>
          <p:cNvPr id="20" name="">
            <a:extLst>
              <a:ext uri="{FF2B5EF4-FFF2-40B4-BE49-F238E27FC236}">
                <ns2:creationId id="{5BC1F994-A4F4-448F-A7DB-C14E2D5C952B}"/>
              </a:ext>
            </a:extLst>
          </p:cNvPr>
          <p:cNvSpPr>
            <a:spLocks noGrp="1"/>
          </p:cNvSpPr>
          <p:nvPr/>
        </p:nvSpPr>
        <p:spPr>
          <a:xfrm>
            <a:off x="4124325" y="5410200"/>
            <a:ext cx="7458075" cy="657225"/>
          </a:xfrm>
          <a:prstGeom prst="rect">
            <a:avLst/>
          </a:prstGeom>
          <a:noFill/>
          <a:ln w="0">
            <a:noFill/>
          </a:ln>
        </p:spPr>
        <p:txBody>
          <a:bodyPr>
            <a:noAutofit/>
          </a:bodyPr>
          <a:lstStyle/>
          <a:p>
            <a:pPr>
              <a:defRPr sz="1575" b="0">
                <a:solidFill>
                  <a:srgbClr val="172D40"/>
                </a:solidFill>
                <a:latin typeface="DejaVu Sans"/>
                <a:ea typeface="DejaVu Sans"/>
                <a:cs typeface="DejaVu Sans"/>
              </a:defRPr>
            </a:pPr>
            <a:r>
              <a:rPr sz="1575" b="0">
                <a:solidFill>
                  <a:srgbClr val="172D40"/>
                </a:solidFill>
                <a:latin typeface="DejaVu Sans"/>
                <a:ea typeface="DejaVu Sans"/>
                <a:cs typeface="DejaVu Sans"/>
              </a:rPr>
              <a:t>Agree the policy comparison before outcomes arrive.</a:t>
            </a:r>
          </a:p>
          <a:p>
            <a:pPr>
              <a:defRPr sz="1575" b="0">
                <a:solidFill>
                  <a:srgbClr val="172D40"/>
                </a:solidFill>
                <a:latin typeface="DejaVu Sans"/>
                <a:ea typeface="DejaVu Sans"/>
                <a:cs typeface="DejaVu Sans"/>
              </a:defRPr>
            </a:pPr>
            <a:r>
              <a:rPr sz="1575" b="0">
                <a:solidFill>
                  <a:srgbClr val="172D40"/>
                </a:solidFill>
                <a:latin typeface="DejaVu Sans"/>
                <a:ea typeface="DejaVu Sans"/>
                <a:cs typeface="DejaVu Sans"/>
              </a:rPr>
              <a:t>Scale: net-value lower 95% bound &gt; 0; gain ≥ agreed minimum.</a:t>
            </a:r>
          </a:p>
        </p:txBody>
      </p:sp>
    </p:spTree>
    <p:extLst>
      <p:ext uri="{BB962C8B-B14F-4D97-AF65-F5344CB8AC3E}">
        <ns3:creationId val="1251945446"/>
      </p:ext>
    </p:extLst>
  </p:cSld>
</p:sld>
</file>

<file path=ppt/theme/theme1.xml><?xml version="1.0" encoding="utf-8"?>
<a:theme xmlns:a="http://schemas.openxmlformats.org/drawingml/2006/main" name="HCP Prioritisation">
  <a:themeElements>
    <a:clrScheme name="HCP Prioritisation">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HCP Prioritisatio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6</ns0:Slides>
  <ns0:Notes>6</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cmilanes93</dc:creator>
  <ns0:lastModifiedBy>cmilanes93</ns0:lastModifiedBy>
  <dc:title>HCP Engagement Prioritisation — Pfizer Technical Exercise</dc:title>
  <ns2:created xsi:type="dcterms:W3CDTF">2026-09-15T05:25:15.4390000Z</ns2:created>
  <ns2:modified xsi:type="dcterms:W3CDTF">2026-09-15T05:25:15.4390000Z</ns2:modified>
</ns0:coreProperties>
</file>